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27714-B197-0079-7E1A-B403DDC57F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7C16E9-D32D-0A8D-BA5B-CB05BA751B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5957D7-6BF8-BD4D-FF1C-F1807DD1E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EA084-A956-7F44-3319-575FF12D9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610D9F-6FC8-2C1B-43CC-39D8664FC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262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6DDD5-28A5-416C-F590-A6E9A3BCE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85456-F745-EBBD-1F09-8DC0B341C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CCD9A-50AC-A81C-0B48-7AF65052F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CABFF-A1A5-452E-E7A5-CDB9FD4AD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689E1E-11E9-9511-F2A5-AA6FDFD68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285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04663-BD7A-ECF9-72C5-88B2EF01A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6E23EC-AE06-FFBA-BDC0-1F37144AC9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4A625-6585-9F9B-33AA-500CBE2E3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234C7-7F9C-0313-BBA0-AF28CE559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228187-CEFD-CD4C-B551-DD5163550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890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686DA-6226-295E-F353-0EC4353BF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C71B9-7C0C-58C6-72B1-46324E3B37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A8585F-4254-F7F2-8624-E35F8BABBF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97133D-E4FD-3B54-B9A0-8C01B1F0A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44B7E7-DF9E-6FB5-BC2A-93640D0F2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1FFFB-7A5D-B9AC-C92E-183C14198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259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70DB9-11CB-9742-4EA7-EA13AFB34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A3CD6C-4F2D-FF0A-D233-FCA37CDC01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8A4745-F820-4F61-97A3-FB3F809E8C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857A98-6378-5E08-C24A-A466C1ED9B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B356DB-7DC5-D73E-0AFB-69A225CC89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B1C92D-84BB-8B56-3079-5C509386C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E90E1B-DBA2-30BE-F532-335AC4BDB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488AA4-86C6-BF69-6903-B927A6986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956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73028-C1A3-4368-4B93-ED568C600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B86979-27DF-701E-1FB0-E9B0FFF05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A3D375-C242-922A-52AA-BD8AE91EC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CF2643-0D9A-7280-7CAC-D1E77A86E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59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80511E-7217-1D8E-1086-102754D32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A59A26-B0BD-D4B6-5584-0503F815D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5246A-28A9-C397-D964-6358B8F5B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43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BB29E-B6EA-BA0E-1BD0-B5DEBE3BB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292B7-1ED1-F007-C36B-9E5F7D6D9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0D840D-DAE1-4EDC-ED01-86DB31ADD6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9F8FC2-02F1-E8C3-05E0-E081E0FB5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F953FE-D8B5-7D4F-B26B-87B3B805D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7447B8-67B1-4137-E503-F99EBF5B0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155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97128-00F0-5176-3BEF-ADA9716DD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33888D-FE03-7E1A-F051-92C3B16BF34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F6FDCC-18DE-9F6B-809F-C22B2FB34F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D7719C-73C3-3D47-8620-14E0E1AA9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6140DE-4B4D-D782-683B-87068358B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073754-290C-58F3-91E0-D0ACDC6C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954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869E6-775F-B895-8261-FE7229BD3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C03D07-1A86-9639-0410-84E1C9DE03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91C4B-65A9-24D0-F91F-BCF708BE7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D3E1C-3454-77CD-2AA1-112A5303A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E8EC1-C767-7441-C7C6-7BE885B34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465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3B04BA-00BD-D87F-8C8E-9306103D6C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417F21-4CEA-C36C-60A2-0BA555D1FA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2E1415-55C7-D3C9-9408-85E3A2234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F94CD-FD0A-9134-843D-DAD7B0DD8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461165-8CAE-CD99-B2B1-C5AB7ECDA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890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F15439-06DF-C04D-978E-1F2567C31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863957-4A83-4E9B-B821-D331D29DF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6CD18-6391-3523-B9AA-4377F8B3CE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9D7EE-90A0-0FBC-FC51-A2F621F42C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2271B1-22EB-B667-8293-8593EB5494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373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22960" y="1234440"/>
            <a:ext cx="7132320" cy="594009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3500" b="1">
                <a:latin typeface="Aptos"/>
              </a:rPr>
              <a:t>NIRMAAN 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03120"/>
            <a:ext cx="6583680" cy="824841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2500" b="1">
                <a:latin typeface="Aptos"/>
              </a:rPr>
              <a:t>Construction Tracking &amp;
Coordinate Visualization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710898"/>
            <a:ext cx="3931920" cy="270843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400" b="1" dirty="0">
                <a:latin typeface="Aptos"/>
              </a:rPr>
              <a:t>PROJECT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5074920"/>
            <a:ext cx="6126480" cy="486287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400" b="0">
                <a:latin typeface="Aptos"/>
              </a:rPr>
              <a:t>Samir Srinath  |  B.Tech CSE (AI &amp; ML)
Suresh Gyan Vihar University, Jaipur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6172200"/>
            <a:ext cx="10058400" cy="22860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900" b="0">
                <a:solidFill>
                  <a:srgbClr val="CDD7E1"/>
                </a:solidFill>
                <a:latin typeface="Aptos"/>
              </a:rPr>
              <a:t>Draft presentation — verify implementation status and test results before formal submission.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57B58A1-E1C2-F2E3-86DD-95998D274FCD}"/>
              </a:ext>
            </a:extLst>
          </p:cNvPr>
          <p:cNvGrpSpPr/>
          <p:nvPr/>
        </p:nvGrpSpPr>
        <p:grpSpPr>
          <a:xfrm>
            <a:off x="1" y="-39163"/>
            <a:ext cx="12192000" cy="6897164"/>
            <a:chOff x="0" y="-39164"/>
            <a:chExt cx="14630401" cy="830811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ED6B261-0786-4336-A550-D42967723251}"/>
                </a:ext>
              </a:extLst>
            </p:cNvPr>
            <p:cNvSpPr/>
            <p:nvPr/>
          </p:nvSpPr>
          <p:spPr>
            <a:xfrm>
              <a:off x="0" y="0"/>
              <a:ext cx="14630400" cy="108548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A4E906D-E520-C234-9F22-9E273386E56B}"/>
                </a:ext>
              </a:extLst>
            </p:cNvPr>
            <p:cNvSpPr/>
            <p:nvPr/>
          </p:nvSpPr>
          <p:spPr>
            <a:xfrm>
              <a:off x="1" y="7183469"/>
              <a:ext cx="14630400" cy="108548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/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9F5B337-4ED9-5F7A-966C-157E25DC1AF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6076"/>
            <a:stretch/>
          </p:blipFill>
          <p:spPr>
            <a:xfrm>
              <a:off x="10810937" y="79572"/>
              <a:ext cx="3618886" cy="944372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029EF541-F155-BB9E-FD09-909EB4DD9E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5597" y="-39164"/>
              <a:ext cx="1194938" cy="1124647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902570E-A89F-D0ED-FE6D-EC03FD9EEB2D}"/>
                </a:ext>
              </a:extLst>
            </p:cNvPr>
            <p:cNvSpPr txBox="1"/>
            <p:nvPr/>
          </p:nvSpPr>
          <p:spPr>
            <a:xfrm flipH="1">
              <a:off x="5574890" y="7444775"/>
              <a:ext cx="3480619" cy="5116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160" dirty="0">
                  <a:solidFill>
                    <a:srgbClr val="D8A21E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www.gyanvihar.org</a:t>
              </a: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636716FA-2D53-1650-E907-0322E2B849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4408" y="1278183"/>
            <a:ext cx="4221480" cy="4221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1069356"/>
            <a:ext cx="10972800" cy="50292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2500" b="1" dirty="0">
                <a:solidFill>
                  <a:srgbClr val="17365D"/>
                </a:solidFill>
                <a:latin typeface="Aptos"/>
              </a:rP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543668"/>
            <a:ext cx="1005840" cy="50292"/>
          </a:xfrm>
          <a:prstGeom prst="rect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6510528"/>
            <a:ext cx="6400800" cy="18288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800" b="0">
                <a:solidFill>
                  <a:srgbClr val="64707E"/>
                </a:solidFill>
                <a:latin typeface="Aptos"/>
              </a:rPr>
              <a:t>NIRMAAN 2.0  |  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r"/>
            <a:r>
              <a:rPr sz="900" b="0">
                <a:solidFill>
                  <a:srgbClr val="64707E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63708"/>
            <a:ext cx="10789920" cy="59436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2000" b="1">
                <a:solidFill>
                  <a:srgbClr val="17365D"/>
                </a:solidFill>
                <a:latin typeface="Aptos"/>
              </a:rPr>
              <a:t>A Salesforce-oriented system for organizing construction records and visualizing foundation geometry.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8108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2924412"/>
            <a:ext cx="54864" cy="153619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924412"/>
            <a:ext cx="306324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500" b="1">
                <a:solidFill>
                  <a:srgbClr val="17365D"/>
                </a:solidFill>
                <a:latin typeface="Aptos"/>
              </a:rPr>
              <a:t>Centralized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08460"/>
            <a:ext cx="3063240" cy="1207007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200" b="0">
                <a:solidFill>
                  <a:srgbClr val="26303C"/>
                </a:solidFill>
                <a:latin typeface="Aptos"/>
              </a:rPr>
              <a:t>Projects, construction packages, piles, rafts, and pedestals.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778108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2924412"/>
            <a:ext cx="54864" cy="1536192"/>
          </a:xfrm>
          <a:prstGeom prst="rect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2924412"/>
            <a:ext cx="306324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500" b="1">
                <a:solidFill>
                  <a:srgbClr val="17365D"/>
                </a:solidFill>
                <a:latin typeface="Aptos"/>
              </a:rPr>
              <a:t>Coordinate capture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308460"/>
            <a:ext cx="3063240" cy="1207007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200" b="0">
                <a:solidFill>
                  <a:srgbClr val="26303C"/>
                </a:solidFill>
                <a:latin typeface="Aptos"/>
              </a:rPr>
              <a:t>Store X/Y positions and raft vertices through a controlled editor.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778108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2924412"/>
            <a:ext cx="54864" cy="1536192"/>
          </a:xfrm>
          <a:prstGeom prst="rect">
            <a:avLst/>
          </a:prstGeom>
          <a:solidFill>
            <a:srgbClr val="2B8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2924412"/>
            <a:ext cx="306324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500" b="1">
                <a:solidFill>
                  <a:srgbClr val="17365D"/>
                </a:solidFill>
                <a:latin typeface="Aptos"/>
              </a:rPr>
              <a:t>Visual workspace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308460"/>
            <a:ext cx="3063240" cy="1207007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200" b="0">
                <a:solidFill>
                  <a:srgbClr val="26303C"/>
                </a:solidFill>
                <a:latin typeface="Aptos"/>
              </a:rPr>
              <a:t>Planned package-level 2D layout with filters and summary cards.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384148"/>
            <a:ext cx="10515600" cy="45720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500" b="0">
                <a:solidFill>
                  <a:srgbClr val="64707E"/>
                </a:solidFill>
                <a:latin typeface="Aptos"/>
              </a:rPr>
              <a:t>Project context: construction-tracking use case associated with NTPC Nabinagar Stage II.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EB1448E-750D-4337-430B-7740FCE22DF4}"/>
              </a:ext>
            </a:extLst>
          </p:cNvPr>
          <p:cNvGrpSpPr/>
          <p:nvPr/>
        </p:nvGrpSpPr>
        <p:grpSpPr>
          <a:xfrm>
            <a:off x="1" y="-39163"/>
            <a:ext cx="12192000" cy="6897164"/>
            <a:chOff x="0" y="-39164"/>
            <a:chExt cx="14630401" cy="830811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6AA3670-9A81-5EA9-810B-6CC218297F97}"/>
                </a:ext>
              </a:extLst>
            </p:cNvPr>
            <p:cNvSpPr/>
            <p:nvPr/>
          </p:nvSpPr>
          <p:spPr>
            <a:xfrm>
              <a:off x="0" y="0"/>
              <a:ext cx="14630400" cy="108548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AD924C1-BA72-D8BD-8F72-E5A912FDD59E}"/>
                </a:ext>
              </a:extLst>
            </p:cNvPr>
            <p:cNvSpPr/>
            <p:nvPr/>
          </p:nvSpPr>
          <p:spPr>
            <a:xfrm>
              <a:off x="1" y="7183469"/>
              <a:ext cx="14630400" cy="108548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/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F6DF4E17-51CA-3B68-FF03-3B240412A6C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6076"/>
            <a:stretch/>
          </p:blipFill>
          <p:spPr>
            <a:xfrm>
              <a:off x="10810937" y="79572"/>
              <a:ext cx="3618886" cy="944372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11F2795E-02E8-0B7D-6146-472709BAC7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5597" y="-39164"/>
              <a:ext cx="1194938" cy="1124647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AF74038-43CE-695F-CBEA-988DBEAABE8F}"/>
                </a:ext>
              </a:extLst>
            </p:cNvPr>
            <p:cNvSpPr txBox="1"/>
            <p:nvPr/>
          </p:nvSpPr>
          <p:spPr>
            <a:xfrm flipH="1">
              <a:off x="5574890" y="7444775"/>
              <a:ext cx="3480619" cy="5116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160" dirty="0">
                  <a:solidFill>
                    <a:srgbClr val="D8A21E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www.gyanvihar.org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1049689"/>
            <a:ext cx="10972800" cy="50292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2500" b="1" dirty="0">
                <a:solidFill>
                  <a:srgbClr val="17365D"/>
                </a:solidFill>
                <a:latin typeface="Aptos"/>
              </a:rP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543662"/>
            <a:ext cx="1005840" cy="50292"/>
          </a:xfrm>
          <a:prstGeom prst="rect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6510528"/>
            <a:ext cx="6400800" cy="18288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800" b="0">
                <a:solidFill>
                  <a:srgbClr val="64707E"/>
                </a:solidFill>
                <a:latin typeface="Aptos"/>
              </a:rPr>
              <a:t>NIRMAAN 2.0  |  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r"/>
            <a:r>
              <a:rPr sz="900" b="0">
                <a:solidFill>
                  <a:srgbClr val="64707E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9132"/>
            <a:ext cx="6492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6303C"/>
                </a:solidFill>
                <a:latin typeface="Aptos"/>
              </a:defRPr>
            </a:pPr>
            <a:r>
              <a:rPr dirty="0"/>
              <a:t>Construction information spans packages, foundation elements, inspections, and progress records.</a:t>
            </a:r>
          </a:p>
          <a:p>
            <a:pPr>
              <a:spcAft>
                <a:spcPts val="1200"/>
              </a:spcAft>
              <a:defRPr sz="1700">
                <a:solidFill>
                  <a:srgbClr val="26303C"/>
                </a:solidFill>
                <a:latin typeface="Aptos"/>
              </a:defRPr>
            </a:pPr>
            <a:r>
              <a:rPr dirty="0"/>
              <a:t>A record-only interface does not clearly show the spatial relationship between piles, rafts, and pedestals.</a:t>
            </a:r>
          </a:p>
          <a:p>
            <a:pPr>
              <a:spcAft>
                <a:spcPts val="1200"/>
              </a:spcAft>
              <a:defRPr sz="1700">
                <a:solidFill>
                  <a:srgbClr val="26303C"/>
                </a:solidFill>
                <a:latin typeface="Aptos"/>
              </a:defRPr>
            </a:pPr>
            <a:r>
              <a:rPr dirty="0"/>
              <a:t>Missing coordinates or malformed geometry can make visual outputs incomplete or misleading.</a:t>
            </a:r>
          </a:p>
          <a:p>
            <a:pPr>
              <a:spcAft>
                <a:spcPts val="1200"/>
              </a:spcAft>
              <a:defRPr sz="1700">
                <a:solidFill>
                  <a:srgbClr val="26303C"/>
                </a:solidFill>
                <a:latin typeface="Aptos"/>
              </a:defRPr>
            </a:pPr>
            <a:r>
              <a:rPr dirty="0"/>
              <a:t>A consistent engineering coordinate system and validation workflow are required.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417320"/>
            <a:ext cx="3474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0" y="1563624"/>
            <a:ext cx="54864" cy="94183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79" y="1563624"/>
            <a:ext cx="310896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500" b="1">
                <a:solidFill>
                  <a:srgbClr val="17365D"/>
                </a:solidFill>
                <a:latin typeface="Aptos"/>
              </a:rPr>
              <a:t>Data consistency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1947672"/>
            <a:ext cx="3108960" cy="612648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200" b="0">
                <a:solidFill>
                  <a:srgbClr val="26303C"/>
                </a:solidFill>
                <a:latin typeface="Aptos"/>
              </a:rPr>
              <a:t>Records must be scoped to the correct Construction Package.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2880360"/>
            <a:ext cx="3474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0" y="3026664"/>
            <a:ext cx="54864" cy="941832"/>
          </a:xfrm>
          <a:prstGeom prst="rect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55279" y="3026664"/>
            <a:ext cx="310896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500" b="1">
                <a:solidFill>
                  <a:srgbClr val="17365D"/>
                </a:solidFill>
                <a:latin typeface="Aptos"/>
              </a:rPr>
              <a:t>Spatial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3410712"/>
            <a:ext cx="3108960" cy="612648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200" b="0">
                <a:solidFill>
                  <a:srgbClr val="26303C"/>
                </a:solidFill>
                <a:latin typeface="Aptos"/>
              </a:rPr>
              <a:t>Combine polygons and point markers in one plan view.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4343400"/>
            <a:ext cx="3474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72400" y="4489704"/>
            <a:ext cx="54864" cy="941832"/>
          </a:xfrm>
          <a:prstGeom prst="rect">
            <a:avLst/>
          </a:prstGeom>
          <a:solidFill>
            <a:srgbClr val="CC8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55279" y="4489704"/>
            <a:ext cx="310896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500" b="1">
                <a:solidFill>
                  <a:srgbClr val="17365D"/>
                </a:solidFill>
                <a:latin typeface="Aptos"/>
              </a:rPr>
              <a:t>Data quality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4873752"/>
            <a:ext cx="3108960" cy="612648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200" b="0">
                <a:solidFill>
                  <a:srgbClr val="26303C"/>
                </a:solidFill>
                <a:latin typeface="Aptos"/>
              </a:rPr>
              <a:t>Identify missing or invalid coordinates.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715FB85-5FE9-C2A4-032E-D8A27384BE16}"/>
              </a:ext>
            </a:extLst>
          </p:cNvPr>
          <p:cNvGrpSpPr/>
          <p:nvPr/>
        </p:nvGrpSpPr>
        <p:grpSpPr>
          <a:xfrm>
            <a:off x="1" y="-39163"/>
            <a:ext cx="12192000" cy="6897164"/>
            <a:chOff x="0" y="-39164"/>
            <a:chExt cx="14630401" cy="830811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B5C7470-4348-A00F-C8AD-009C4745B8AE}"/>
                </a:ext>
              </a:extLst>
            </p:cNvPr>
            <p:cNvSpPr/>
            <p:nvPr/>
          </p:nvSpPr>
          <p:spPr>
            <a:xfrm>
              <a:off x="0" y="0"/>
              <a:ext cx="14630400" cy="108548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2651C81-1F79-6251-009F-CBE9FDF0B84D}"/>
                </a:ext>
              </a:extLst>
            </p:cNvPr>
            <p:cNvSpPr/>
            <p:nvPr/>
          </p:nvSpPr>
          <p:spPr>
            <a:xfrm>
              <a:off x="1" y="7183469"/>
              <a:ext cx="14630400" cy="108548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/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6B1BC014-B593-9F39-58A8-349FA5C87D1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6076"/>
            <a:stretch/>
          </p:blipFill>
          <p:spPr>
            <a:xfrm>
              <a:off x="10810937" y="79572"/>
              <a:ext cx="3618886" cy="944372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9E1DF7A9-56C9-6250-360E-9CB0F3285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5597" y="-39164"/>
              <a:ext cx="1194938" cy="1124647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D83D1A5-E7E9-5EDF-635D-21557C434D7F}"/>
                </a:ext>
              </a:extLst>
            </p:cNvPr>
            <p:cNvSpPr txBox="1"/>
            <p:nvPr/>
          </p:nvSpPr>
          <p:spPr>
            <a:xfrm flipH="1">
              <a:off x="5574890" y="7444775"/>
              <a:ext cx="3480619" cy="5116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160" dirty="0">
                  <a:solidFill>
                    <a:srgbClr val="D8A21E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www.gyanvihar.org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1148016"/>
            <a:ext cx="10972800" cy="50292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2500" b="1">
                <a:solidFill>
                  <a:srgbClr val="17365D"/>
                </a:solidFill>
                <a:latin typeface="Aptos"/>
              </a:rPr>
              <a:t>Project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769808"/>
            <a:ext cx="1005840" cy="50292"/>
          </a:xfrm>
          <a:prstGeom prst="rect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6943149"/>
            <a:ext cx="6400800" cy="18288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800" b="0">
                <a:solidFill>
                  <a:srgbClr val="64707E"/>
                </a:solidFill>
                <a:latin typeface="Aptos"/>
              </a:rPr>
              <a:t>NIRMAAN 2.0  |  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906573"/>
            <a:ext cx="411480" cy="22860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r"/>
            <a:r>
              <a:rPr sz="900" b="0">
                <a:solidFill>
                  <a:srgbClr val="64707E"/>
                </a:solidFill>
                <a:latin typeface="Aptos"/>
              </a:rPr>
              <a:t>04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178339"/>
            <a:ext cx="502920" cy="50292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306355"/>
            <a:ext cx="502920" cy="201168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78339"/>
            <a:ext cx="283464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600" b="1">
                <a:solidFill>
                  <a:srgbClr val="17365D"/>
                </a:solidFill>
                <a:latin typeface="Aptos"/>
              </a:rPr>
              <a:t>Structured data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178339"/>
            <a:ext cx="6675120" cy="5486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400" b="0">
                <a:solidFill>
                  <a:srgbClr val="26303C"/>
                </a:solidFill>
                <a:latin typeface="Aptos"/>
              </a:rPr>
              <a:t>Organize projects, packages, piles, rafts, and pedestals.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882820"/>
            <a:ext cx="502920" cy="50292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010836"/>
            <a:ext cx="502920" cy="201168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882820"/>
            <a:ext cx="283464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600" b="1">
                <a:solidFill>
                  <a:srgbClr val="17365D"/>
                </a:solidFill>
                <a:latin typeface="Aptos"/>
              </a:rPr>
              <a:t>Coordinate entry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882820"/>
            <a:ext cx="6675120" cy="5486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400" b="0">
                <a:solidFill>
                  <a:srgbClr val="26303C"/>
                </a:solidFill>
                <a:latin typeface="Aptos"/>
              </a:rPr>
              <a:t>Capture X/Y values and ordered raft vertices.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587301"/>
            <a:ext cx="502920" cy="50292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715317"/>
            <a:ext cx="502920" cy="201168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587301"/>
            <a:ext cx="283464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600" b="1">
                <a:solidFill>
                  <a:srgbClr val="17365D"/>
                </a:solidFill>
                <a:latin typeface="Aptos"/>
              </a:rPr>
              <a:t>Interactive visualization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587301"/>
            <a:ext cx="6675120" cy="5486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400" b="0">
                <a:solidFill>
                  <a:srgbClr val="26303C"/>
                </a:solidFill>
                <a:latin typeface="Aptos"/>
              </a:rPr>
              <a:t>Plot structures on a shared 2D engineering canvas.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4380275"/>
            <a:ext cx="502920" cy="50292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508291"/>
            <a:ext cx="502920" cy="201168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380275"/>
            <a:ext cx="283464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600" b="1">
                <a:solidFill>
                  <a:srgbClr val="17365D"/>
                </a:solidFill>
                <a:latin typeface="Aptos"/>
              </a:rPr>
              <a:t>Filters and summaries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380275"/>
            <a:ext cx="6675120" cy="5486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400" b="0">
                <a:solidFill>
                  <a:srgbClr val="26303C"/>
                </a:solidFill>
                <a:latin typeface="Aptos"/>
              </a:rPr>
              <a:t>Scope by package and structure type; show counts.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" y="5340395"/>
            <a:ext cx="502920" cy="50292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5468411"/>
            <a:ext cx="502920" cy="201168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340395"/>
            <a:ext cx="283464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600" b="1">
                <a:solidFill>
                  <a:srgbClr val="17365D"/>
                </a:solidFill>
                <a:latin typeface="Aptos"/>
              </a:rPr>
              <a:t>Secure platform design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5340395"/>
            <a:ext cx="6675120" cy="5486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400" b="0" dirty="0">
                <a:solidFill>
                  <a:srgbClr val="26303C"/>
                </a:solidFill>
                <a:latin typeface="Aptos"/>
              </a:rPr>
              <a:t>Use Salesforce sharing, permissions, and server-side validation.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7AC31D0-17CC-BC39-C722-C7E97E478114}"/>
              </a:ext>
            </a:extLst>
          </p:cNvPr>
          <p:cNvGrpSpPr/>
          <p:nvPr/>
        </p:nvGrpSpPr>
        <p:grpSpPr>
          <a:xfrm>
            <a:off x="1" y="-39163"/>
            <a:ext cx="12192000" cy="6897164"/>
            <a:chOff x="0" y="-39164"/>
            <a:chExt cx="14630401" cy="8308115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0A230F3-7BF0-21C1-FB5E-012E52C7B45E}"/>
                </a:ext>
              </a:extLst>
            </p:cNvPr>
            <p:cNvSpPr/>
            <p:nvPr/>
          </p:nvSpPr>
          <p:spPr>
            <a:xfrm>
              <a:off x="0" y="0"/>
              <a:ext cx="14630400" cy="108548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5017899-11EB-38A3-86AC-37D495FE0E7E}"/>
                </a:ext>
              </a:extLst>
            </p:cNvPr>
            <p:cNvSpPr/>
            <p:nvPr/>
          </p:nvSpPr>
          <p:spPr>
            <a:xfrm>
              <a:off x="1" y="7183469"/>
              <a:ext cx="14630400" cy="108548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/>
            </a:p>
          </p:txBody>
        </p: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DA17FCA9-FA9F-3EE0-C267-CB027F8DBCA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6076"/>
            <a:stretch/>
          </p:blipFill>
          <p:spPr>
            <a:xfrm>
              <a:off x="10810937" y="79572"/>
              <a:ext cx="3618886" cy="944372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949B82CB-EEA9-5226-A8B4-57B625ED50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5597" y="-39164"/>
              <a:ext cx="1194938" cy="1124647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2289C2B-1DDD-F8DD-DEEB-964AFF1C4E7E}"/>
                </a:ext>
              </a:extLst>
            </p:cNvPr>
            <p:cNvSpPr txBox="1"/>
            <p:nvPr/>
          </p:nvSpPr>
          <p:spPr>
            <a:xfrm flipH="1">
              <a:off x="5574890" y="7444775"/>
              <a:ext cx="3480619" cy="5116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160" dirty="0">
                  <a:solidFill>
                    <a:srgbClr val="D8A21E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www.gyanvihar.org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902202"/>
            <a:ext cx="10972800" cy="50292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2500" b="1">
                <a:solidFill>
                  <a:srgbClr val="17365D"/>
                </a:solidFill>
                <a:latin typeface="Aptos"/>
              </a:rPr>
              <a:t>System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523994"/>
            <a:ext cx="1005840" cy="50292"/>
          </a:xfrm>
          <a:prstGeom prst="rect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6510528"/>
            <a:ext cx="6400800" cy="18288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800" b="0">
                <a:solidFill>
                  <a:srgbClr val="64707E"/>
                </a:solidFill>
                <a:latin typeface="Aptos"/>
              </a:rPr>
              <a:t>NIRMAAN 2.0  |  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r"/>
            <a:r>
              <a:rPr sz="900" b="0">
                <a:solidFill>
                  <a:srgbClr val="64707E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81194"/>
            <a:ext cx="51206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27498"/>
            <a:ext cx="54864" cy="327355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127498"/>
            <a:ext cx="4754879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500" b="1">
                <a:solidFill>
                  <a:srgbClr val="17365D"/>
                </a:solidFill>
                <a:latin typeface="Aptos"/>
              </a:rPr>
              <a:t>Original use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11546"/>
            <a:ext cx="4754879" cy="2944368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200" b="0">
                <a:solidFill>
                  <a:srgbClr val="26303C"/>
                </a:solidFill>
                <a:latin typeface="Aptos"/>
              </a:rPr>
              <a:t>Node.js
HTML, CSS, JavaScript, Tailwind CSS
MySQL data storage
Leaflet.js spatial view
Dashboards, filtering, reporting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981194"/>
            <a:ext cx="51206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2127498"/>
            <a:ext cx="54864" cy="3273552"/>
          </a:xfrm>
          <a:prstGeom prst="rect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2127498"/>
            <a:ext cx="4754879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500" b="1">
                <a:solidFill>
                  <a:srgbClr val="17365D"/>
                </a:solidFill>
                <a:latin typeface="Aptos"/>
              </a:rPr>
              <a:t>Salesforce-oriented 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511546"/>
            <a:ext cx="4754879" cy="2944368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200" b="0">
                <a:solidFill>
                  <a:srgbClr val="26303C"/>
                </a:solidFill>
                <a:latin typeface="Aptos"/>
              </a:rPr>
              <a:t>Salesforce custom objects and fields
Apex server-side logic
Lightning Web Components
SVG engineering plan view
Salesforce reports, permissions, and app navigation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958834"/>
            <a:ext cx="10607040" cy="36576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300" b="0">
                <a:solidFill>
                  <a:srgbClr val="64707E"/>
                </a:solidFill>
                <a:latin typeface="Aptos"/>
              </a:rPr>
              <a:t>The final deployed state must be verified in the target Salesforce org.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524DCE7-CCA3-5102-D17B-C9900CEE1DC0}"/>
              </a:ext>
            </a:extLst>
          </p:cNvPr>
          <p:cNvGrpSpPr/>
          <p:nvPr/>
        </p:nvGrpSpPr>
        <p:grpSpPr>
          <a:xfrm>
            <a:off x="1" y="-39163"/>
            <a:ext cx="12192000" cy="6897164"/>
            <a:chOff x="0" y="-39164"/>
            <a:chExt cx="14630401" cy="8308115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570855F-FCDF-A4B7-B3A1-9BE209991C03}"/>
                </a:ext>
              </a:extLst>
            </p:cNvPr>
            <p:cNvSpPr/>
            <p:nvPr/>
          </p:nvSpPr>
          <p:spPr>
            <a:xfrm>
              <a:off x="0" y="0"/>
              <a:ext cx="14630400" cy="108548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D09F76E-2CCA-83F9-F8A4-8CE440A99AA0}"/>
                </a:ext>
              </a:extLst>
            </p:cNvPr>
            <p:cNvSpPr/>
            <p:nvPr/>
          </p:nvSpPr>
          <p:spPr>
            <a:xfrm>
              <a:off x="1" y="7183469"/>
              <a:ext cx="14630400" cy="108548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/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06CB7415-A7FA-B5CD-C50D-A1F15961641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6076"/>
            <a:stretch/>
          </p:blipFill>
          <p:spPr>
            <a:xfrm>
              <a:off x="10810937" y="79572"/>
              <a:ext cx="3618886" cy="944372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C189AA83-8213-9D04-A4DC-1966A04321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5597" y="-39164"/>
              <a:ext cx="1194938" cy="1124647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6CF20F8-13EE-3BCF-434A-FD6F75392941}"/>
                </a:ext>
              </a:extLst>
            </p:cNvPr>
            <p:cNvSpPr txBox="1"/>
            <p:nvPr/>
          </p:nvSpPr>
          <p:spPr>
            <a:xfrm flipH="1">
              <a:off x="5574890" y="7444775"/>
              <a:ext cx="3480619" cy="5116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160" dirty="0">
                  <a:solidFill>
                    <a:srgbClr val="D8A21E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www.gyanvihar.org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853048"/>
            <a:ext cx="10972800" cy="50292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2500" b="1">
                <a:solidFill>
                  <a:srgbClr val="17365D"/>
                </a:solidFill>
                <a:latin typeface="Aptos"/>
              </a:rP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474840"/>
            <a:ext cx="1005840" cy="50292"/>
          </a:xfrm>
          <a:prstGeom prst="rect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6510528"/>
            <a:ext cx="6400800" cy="18288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800" b="0">
                <a:solidFill>
                  <a:srgbClr val="64707E"/>
                </a:solidFill>
                <a:latin typeface="Aptos"/>
              </a:rPr>
              <a:t>NIRMAAN 2.0  |  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r"/>
            <a:r>
              <a:rPr sz="900" b="0">
                <a:solidFill>
                  <a:srgbClr val="64707E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1794880"/>
            <a:ext cx="8321040" cy="713232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148840" y="1904608"/>
            <a:ext cx="2926080" cy="27432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Lightning App / Construction Layout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1904608"/>
            <a:ext cx="4846320" cy="41148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Navigation, filters, summary cards, visualization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0" y="2508112"/>
            <a:ext cx="457200" cy="27432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ctr"/>
            <a:r>
              <a:rPr sz="1800" b="1">
                <a:solidFill>
                  <a:srgbClr val="0096B4"/>
                </a:solidFill>
                <a:latin typeface="Aptos"/>
              </a:rP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20240" y="2873872"/>
            <a:ext cx="8321040" cy="713232"/>
          </a:xfrm>
          <a:prstGeom prst="round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148840" y="2983600"/>
            <a:ext cx="2926080" cy="27432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Lightning Web Components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2983600"/>
            <a:ext cx="4846320" cy="41148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Coordinate editor, workspace UI, SVG interactions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3587104"/>
            <a:ext cx="457200" cy="27432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ctr"/>
            <a:r>
              <a:rPr sz="1800" b="1">
                <a:solidFill>
                  <a:srgbClr val="0096B4"/>
                </a:solidFill>
                <a:latin typeface="Aptos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20240" y="3952864"/>
            <a:ext cx="8321040" cy="713232"/>
          </a:xfrm>
          <a:prstGeom prst="roundRect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148840" y="4062592"/>
            <a:ext cx="2926080" cy="27432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Apex Controller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4062592"/>
            <a:ext cx="4846320" cy="41148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Secure retrieval, validation, response shaping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4666096"/>
            <a:ext cx="457200" cy="27432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ctr"/>
            <a:r>
              <a:rPr sz="1800" b="1">
                <a:solidFill>
                  <a:srgbClr val="0096B4"/>
                </a:solidFill>
                <a:latin typeface="Aptos"/>
              </a:rP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20240" y="5031856"/>
            <a:ext cx="8321040" cy="713232"/>
          </a:xfrm>
          <a:prstGeom prst="roundRect">
            <a:avLst/>
          </a:prstGeom>
          <a:solidFill>
            <a:srgbClr val="2B8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148840" y="5141584"/>
            <a:ext cx="2926080" cy="27432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Salesforce Data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5141584"/>
            <a:ext cx="4846320" cy="41148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Projects, packages, piles, rafts, pedestals, progress/inspection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715000"/>
            <a:ext cx="896112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ctr"/>
            <a:r>
              <a:rPr sz="1300" b="0">
                <a:solidFill>
                  <a:srgbClr val="64707E"/>
                </a:solidFill>
                <a:latin typeface="Aptos"/>
              </a:rPr>
              <a:t>Security is enforced at the data-access layer; the UI is not a security boundary.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BAD9988-AF2C-6AD3-1F77-D278AB1F25C3}"/>
              </a:ext>
            </a:extLst>
          </p:cNvPr>
          <p:cNvGrpSpPr/>
          <p:nvPr/>
        </p:nvGrpSpPr>
        <p:grpSpPr>
          <a:xfrm>
            <a:off x="1" y="-39163"/>
            <a:ext cx="12192000" cy="6897164"/>
            <a:chOff x="0" y="-39164"/>
            <a:chExt cx="14630401" cy="8308115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C321E35-8C47-903C-1CBA-4F09FDBCB986}"/>
                </a:ext>
              </a:extLst>
            </p:cNvPr>
            <p:cNvSpPr/>
            <p:nvPr/>
          </p:nvSpPr>
          <p:spPr>
            <a:xfrm>
              <a:off x="0" y="0"/>
              <a:ext cx="14630400" cy="108548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42CB648-7833-B4F8-1433-996BBFAE69F4}"/>
                </a:ext>
              </a:extLst>
            </p:cNvPr>
            <p:cNvSpPr/>
            <p:nvPr/>
          </p:nvSpPr>
          <p:spPr>
            <a:xfrm>
              <a:off x="1" y="7183469"/>
              <a:ext cx="14630400" cy="108548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/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C104DAA5-C943-C2B3-CEFC-09D7819E305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6076"/>
            <a:stretch/>
          </p:blipFill>
          <p:spPr>
            <a:xfrm>
              <a:off x="10810937" y="79572"/>
              <a:ext cx="3618886" cy="944372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558D872F-EFF3-D59B-1095-34E8F51107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5597" y="-39164"/>
              <a:ext cx="1194938" cy="1124647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DD49C4F-BB5A-0847-E0E8-53ACE85BDE7A}"/>
                </a:ext>
              </a:extLst>
            </p:cNvPr>
            <p:cNvSpPr txBox="1"/>
            <p:nvPr/>
          </p:nvSpPr>
          <p:spPr>
            <a:xfrm flipH="1">
              <a:off x="5574890" y="7444775"/>
              <a:ext cx="3480619" cy="5116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160" dirty="0">
                  <a:solidFill>
                    <a:srgbClr val="D8A21E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www.gyanvihar.org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1020196"/>
            <a:ext cx="10972800" cy="50292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2500" b="1">
                <a:solidFill>
                  <a:srgbClr val="17365D"/>
                </a:solidFill>
                <a:latin typeface="Aptos"/>
              </a:rPr>
              <a:t>Data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641988"/>
            <a:ext cx="1005840" cy="50292"/>
          </a:xfrm>
          <a:prstGeom prst="rect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7238116"/>
            <a:ext cx="6400800" cy="18288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800" b="0">
                <a:solidFill>
                  <a:srgbClr val="64707E"/>
                </a:solidFill>
                <a:latin typeface="Aptos"/>
              </a:rPr>
              <a:t>NIRMAAN 2.0  |  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7201540"/>
            <a:ext cx="411480" cy="22860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r"/>
            <a:r>
              <a:rPr sz="900" b="0">
                <a:solidFill>
                  <a:srgbClr val="64707E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62028"/>
            <a:ext cx="33832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8332"/>
            <a:ext cx="54864" cy="987551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108332"/>
            <a:ext cx="301752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500" b="1">
                <a:solidFill>
                  <a:srgbClr val="17365D"/>
                </a:solidFill>
                <a:latin typeface="Aptos"/>
              </a:rPr>
              <a:t>Nirmaan_Project__c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92380"/>
            <a:ext cx="3017520" cy="658367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200" b="0">
                <a:solidFill>
                  <a:srgbClr val="26303C"/>
                </a:solidFill>
                <a:latin typeface="Aptos"/>
              </a:rPr>
              <a:t>Top-level construction project.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962028"/>
            <a:ext cx="33832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2108332"/>
            <a:ext cx="54864" cy="987551"/>
          </a:xfrm>
          <a:prstGeom prst="rect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2108332"/>
            <a:ext cx="301752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500" b="1">
                <a:solidFill>
                  <a:srgbClr val="17365D"/>
                </a:solidFill>
                <a:latin typeface="Aptos"/>
              </a:rPr>
              <a:t>Construction_Package__c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492380"/>
            <a:ext cx="3017520" cy="658367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200" b="0">
                <a:solidFill>
                  <a:srgbClr val="26303C"/>
                </a:solidFill>
                <a:latin typeface="Aptos"/>
              </a:rPr>
              <a:t>Package grouping and area-level selection.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962028"/>
            <a:ext cx="33832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01000" y="2108332"/>
            <a:ext cx="54864" cy="987551"/>
          </a:xfrm>
          <a:prstGeom prst="rect">
            <a:avLst/>
          </a:prstGeom>
          <a:solidFill>
            <a:srgbClr val="2B8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83879" y="2108332"/>
            <a:ext cx="301752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500" b="1">
                <a:solidFill>
                  <a:srgbClr val="17365D"/>
                </a:solidFill>
                <a:latin typeface="Aptos"/>
              </a:rPr>
              <a:t>Related structures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2492380"/>
            <a:ext cx="3017520" cy="658367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200" b="0">
                <a:solidFill>
                  <a:srgbClr val="26303C"/>
                </a:solidFill>
                <a:latin typeface="Aptos"/>
              </a:rPr>
              <a:t>Piles, rafts, and pedestals.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470788"/>
            <a:ext cx="1024128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ctr"/>
            <a:r>
              <a:rPr sz="1300" b="0">
                <a:solidFill>
                  <a:srgbClr val="64707E"/>
                </a:solidFill>
                <a:latin typeface="Aptos"/>
              </a:rPr>
              <a:t>Confirm field API names and relationships against the actual metadata.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278572"/>
              </p:ext>
            </p:extLst>
          </p:nvPr>
        </p:nvGraphicFramePr>
        <p:xfrm>
          <a:off x="914400" y="4065148"/>
          <a:ext cx="103327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Object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Key geometry data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Role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303C"/>
                          </a:solidFill>
                          <a:latin typeface="Aptos"/>
                        </a:rPr>
                        <a:t>Pile__c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303C"/>
                          </a:solidFill>
                          <a:latin typeface="Aptos"/>
                        </a:rPr>
                        <a:t>X, Y, pile identifier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303C"/>
                          </a:solidFill>
                          <a:latin typeface="Aptos"/>
                        </a:rPr>
                        <a:t>Point marker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303C"/>
                          </a:solidFill>
                          <a:latin typeface="Aptos"/>
                        </a:rPr>
                        <a:t>Raft__c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303C"/>
                          </a:solidFill>
                          <a:latin typeface="Aptos"/>
                        </a:rPr>
                        <a:t>Corner count, Coordinates_JSON__c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303C"/>
                          </a:solidFill>
                          <a:latin typeface="Aptos"/>
                        </a:rPr>
                        <a:t>Polygon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303C"/>
                          </a:solidFill>
                          <a:latin typeface="Aptos"/>
                        </a:rPr>
                        <a:t>Pedestal__c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303C"/>
                          </a:solidFill>
                          <a:latin typeface="Aptos"/>
                        </a:rPr>
                        <a:t>X, Y, grid reference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303C"/>
                          </a:solidFill>
                          <a:latin typeface="Aptos"/>
                        </a:rPr>
                        <a:t>Distinct point marker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0" name="Group 19">
            <a:extLst>
              <a:ext uri="{FF2B5EF4-FFF2-40B4-BE49-F238E27FC236}">
                <a16:creationId xmlns:a16="http://schemas.microsoft.com/office/drawing/2014/main" id="{5C50BB9A-D95A-1ADB-9E6D-198082731F1D}"/>
              </a:ext>
            </a:extLst>
          </p:cNvPr>
          <p:cNvGrpSpPr/>
          <p:nvPr/>
        </p:nvGrpSpPr>
        <p:grpSpPr>
          <a:xfrm>
            <a:off x="1" y="-39163"/>
            <a:ext cx="12192000" cy="6897164"/>
            <a:chOff x="0" y="-39164"/>
            <a:chExt cx="14630401" cy="830811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A97E3D2-7532-20F3-1DBE-D7AB8A19C637}"/>
                </a:ext>
              </a:extLst>
            </p:cNvPr>
            <p:cNvSpPr/>
            <p:nvPr/>
          </p:nvSpPr>
          <p:spPr>
            <a:xfrm>
              <a:off x="0" y="0"/>
              <a:ext cx="14630400" cy="108548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554EAC1-D3A3-4A25-3027-D784311DE9D0}"/>
                </a:ext>
              </a:extLst>
            </p:cNvPr>
            <p:cNvSpPr/>
            <p:nvPr/>
          </p:nvSpPr>
          <p:spPr>
            <a:xfrm>
              <a:off x="1" y="7183469"/>
              <a:ext cx="14630400" cy="108548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/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72FBC76A-BD27-189C-C836-1AE57AA83FE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6076"/>
            <a:stretch/>
          </p:blipFill>
          <p:spPr>
            <a:xfrm>
              <a:off x="10810937" y="79572"/>
              <a:ext cx="3618886" cy="944372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FD0DA82F-640F-C493-FE36-484066F60B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5597" y="-39164"/>
              <a:ext cx="1194938" cy="1124647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A67401A-ED99-9CA8-E6FE-7935BBE743BC}"/>
                </a:ext>
              </a:extLst>
            </p:cNvPr>
            <p:cNvSpPr txBox="1"/>
            <p:nvPr/>
          </p:nvSpPr>
          <p:spPr>
            <a:xfrm flipH="1">
              <a:off x="5574890" y="7444775"/>
              <a:ext cx="3480619" cy="5116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160" dirty="0">
                  <a:solidFill>
                    <a:srgbClr val="D8A21E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www.gyanvihar.org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853043"/>
            <a:ext cx="10972800" cy="50292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2500" b="1">
                <a:solidFill>
                  <a:srgbClr val="17365D"/>
                </a:solidFill>
                <a:latin typeface="Aptos"/>
              </a:rPr>
              <a:t>Coordinate Data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474835"/>
            <a:ext cx="1005840" cy="50292"/>
          </a:xfrm>
          <a:prstGeom prst="rect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6510528"/>
            <a:ext cx="6400800" cy="18288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800" b="0">
                <a:solidFill>
                  <a:srgbClr val="64707E"/>
                </a:solidFill>
                <a:latin typeface="Aptos"/>
              </a:rPr>
              <a:t>NIRMAAN 2.0  |  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r"/>
            <a:r>
              <a:rPr sz="900" b="0">
                <a:solidFill>
                  <a:srgbClr val="64707E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40595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986898"/>
            <a:ext cx="54864" cy="112471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986898"/>
            <a:ext cx="301752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500" b="1">
                <a:solidFill>
                  <a:srgbClr val="17365D"/>
                </a:solidFill>
                <a:latin typeface="Aptos"/>
              </a:rPr>
              <a:t>Piles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70947"/>
            <a:ext cx="3017520" cy="795528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200" b="0">
                <a:solidFill>
                  <a:srgbClr val="26303C"/>
                </a:solidFill>
                <a:latin typeface="Aptos"/>
              </a:rPr>
              <a:t>One X/Y coordinate pair per pile.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40595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986898"/>
            <a:ext cx="54864" cy="1124712"/>
          </a:xfrm>
          <a:prstGeom prst="rect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986898"/>
            <a:ext cx="301752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500" b="1">
                <a:solidFill>
                  <a:srgbClr val="17365D"/>
                </a:solidFill>
                <a:latin typeface="Aptos"/>
              </a:rPr>
              <a:t>Pedestals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70947"/>
            <a:ext cx="3017520" cy="795528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200" b="0">
                <a:solidFill>
                  <a:srgbClr val="26303C"/>
                </a:solidFill>
                <a:latin typeface="Aptos"/>
              </a:rPr>
              <a:t>One X/Y coordinate pair per pedestal.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840595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55279" y="1986898"/>
            <a:ext cx="54864" cy="1124712"/>
          </a:xfrm>
          <a:prstGeom prst="rect">
            <a:avLst/>
          </a:prstGeom>
          <a:solidFill>
            <a:srgbClr val="2B8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38159" y="1986898"/>
            <a:ext cx="301752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500" b="1">
                <a:solidFill>
                  <a:srgbClr val="17365D"/>
                </a:solidFill>
                <a:latin typeface="Aptos"/>
              </a:rPr>
              <a:t>Rafts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59" y="2370947"/>
            <a:ext cx="3017520" cy="795528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200" b="0">
                <a:solidFill>
                  <a:srgbClr val="26303C"/>
                </a:solidFill>
                <a:latin typeface="Aptos"/>
              </a:rPr>
              <a:t>A variable number of ordered X/Y vertices forms a polygon.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715115"/>
            <a:ext cx="457200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700" b="1">
                <a:solidFill>
                  <a:srgbClr val="17365D"/>
                </a:solidFill>
                <a:latin typeface="Aptos"/>
              </a:rPr>
              <a:t>Illustrative raft JSON structure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126595"/>
            <a:ext cx="5074920" cy="2240280"/>
          </a:xfrm>
          <a:prstGeom prst="roundRect">
            <a:avLst/>
          </a:prstGeom>
          <a:solidFill>
            <a:srgbClr val="1F2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43000" y="4291187"/>
            <a:ext cx="4617720" cy="19202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100" b="0">
                <a:solidFill>
                  <a:srgbClr val="D7EDF5"/>
                </a:solidFill>
                <a:latin typeface="Consolas"/>
              </a:rPr>
              <a:t>[
  {"sequence": 1, "x": 100, "y": 100},
  {"sequence": 2, "x": 200, "y": 100},
  {"sequence": 3, "x": 240, "y": 160},
  {"sequence": 4, "x": 160, "y": 220},
  {"sequence": 5, "x": 80, "y": 160}
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355195"/>
            <a:ext cx="4572000" cy="1463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600" b="0">
                <a:solidFill>
                  <a:srgbClr val="26303C"/>
                </a:solidFill>
                <a:latin typeface="Aptos"/>
              </a:rPr>
              <a:t>Vertex order matters: connect points sequentially and close the polygon. These values are examples, not construction measurements.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B985108-4D1D-6115-7D31-DE87D530A097}"/>
              </a:ext>
            </a:extLst>
          </p:cNvPr>
          <p:cNvGrpSpPr/>
          <p:nvPr/>
        </p:nvGrpSpPr>
        <p:grpSpPr>
          <a:xfrm>
            <a:off x="1" y="-39163"/>
            <a:ext cx="12192000" cy="6897164"/>
            <a:chOff x="0" y="-39164"/>
            <a:chExt cx="14630401" cy="8308115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94CCC68-3D56-27BA-CD37-E1F6BA074493}"/>
                </a:ext>
              </a:extLst>
            </p:cNvPr>
            <p:cNvSpPr/>
            <p:nvPr/>
          </p:nvSpPr>
          <p:spPr>
            <a:xfrm>
              <a:off x="0" y="0"/>
              <a:ext cx="14630400" cy="108548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85D5DEE-70C3-2CB2-896E-54E36F790AA1}"/>
                </a:ext>
              </a:extLst>
            </p:cNvPr>
            <p:cNvSpPr/>
            <p:nvPr/>
          </p:nvSpPr>
          <p:spPr>
            <a:xfrm>
              <a:off x="1" y="7183469"/>
              <a:ext cx="14630400" cy="108548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/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ECD9337C-7520-9E65-7A71-513FBCE900F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6076"/>
            <a:stretch/>
          </p:blipFill>
          <p:spPr>
            <a:xfrm>
              <a:off x="10810937" y="79572"/>
              <a:ext cx="3618886" cy="944372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0D7BE32B-13FD-19F2-9E0B-0B319E046D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5597" y="-39164"/>
              <a:ext cx="1194938" cy="1124647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623546E-0846-3A47-0F3D-D79837A8F6EF}"/>
                </a:ext>
              </a:extLst>
            </p:cNvPr>
            <p:cNvSpPr txBox="1"/>
            <p:nvPr/>
          </p:nvSpPr>
          <p:spPr>
            <a:xfrm flipH="1">
              <a:off x="5574890" y="7444775"/>
              <a:ext cx="3480619" cy="5116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160" dirty="0">
                  <a:solidFill>
                    <a:srgbClr val="D8A21E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www.gyanvihar.org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1216843"/>
            <a:ext cx="10972800" cy="50292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2500" b="1">
                <a:solidFill>
                  <a:srgbClr val="17365D"/>
                </a:solidFill>
                <a:latin typeface="Aptos"/>
              </a:rPr>
              <a:t>Raft Coordinate Editor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838635"/>
            <a:ext cx="1005840" cy="50292"/>
          </a:xfrm>
          <a:prstGeom prst="rect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6510528"/>
            <a:ext cx="6400800" cy="18288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800" b="0">
                <a:solidFill>
                  <a:srgbClr val="64707E"/>
                </a:solidFill>
                <a:latin typeface="Aptos"/>
              </a:rPr>
              <a:t>NIRMAAN 2.0  |  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r"/>
            <a:r>
              <a:rPr sz="900" b="0">
                <a:solidFill>
                  <a:srgbClr val="64707E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753035"/>
            <a:ext cx="19659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399032" y="2341555"/>
            <a:ext cx="530352" cy="530352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99032" y="2487859"/>
            <a:ext cx="530352" cy="18288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73075"/>
            <a:ext cx="169164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ctr"/>
            <a:r>
              <a:rPr sz="1500" b="1">
                <a:solidFill>
                  <a:srgbClr val="17365D"/>
                </a:solidFill>
                <a:latin typeface="Aptos"/>
              </a:rPr>
              <a:t>Choose corners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21715"/>
            <a:ext cx="1691640" cy="73152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ctr"/>
            <a:r>
              <a:rPr sz="1200" b="0">
                <a:solidFill>
                  <a:srgbClr val="26303C"/>
                </a:solidFill>
                <a:latin typeface="Aptos"/>
              </a:rPr>
              <a:t>Select 3–20 corners.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90088" y="2753035"/>
            <a:ext cx="19659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703320" y="2341555"/>
            <a:ext cx="530352" cy="530352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03320" y="2487859"/>
            <a:ext cx="530352" cy="18288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27248" y="3073075"/>
            <a:ext cx="169164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ctr"/>
            <a:r>
              <a:rPr sz="1500" b="1">
                <a:solidFill>
                  <a:srgbClr val="17365D"/>
                </a:solidFill>
                <a:latin typeface="Aptos"/>
              </a:rPr>
              <a:t>Enter X/Y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27248" y="3621715"/>
            <a:ext cx="1691640" cy="73152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ctr"/>
            <a:r>
              <a:rPr sz="1200" b="0">
                <a:solidFill>
                  <a:srgbClr val="26303C"/>
                </a:solidFill>
                <a:latin typeface="Aptos"/>
              </a:rPr>
              <a:t>Fill each point in sequence.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94376" y="2753035"/>
            <a:ext cx="19659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007608" y="2341555"/>
            <a:ext cx="530352" cy="530352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07608" y="2487859"/>
            <a:ext cx="530352" cy="18288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31536" y="3073075"/>
            <a:ext cx="169164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ctr"/>
            <a:r>
              <a:rPr sz="1500" b="1">
                <a:solidFill>
                  <a:srgbClr val="17365D"/>
                </a:solidFill>
                <a:latin typeface="Aptos"/>
              </a:rPr>
              <a:t>Preview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31536" y="3621715"/>
            <a:ext cx="1691640" cy="73152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ctr"/>
            <a:r>
              <a:rPr sz="1200" b="0">
                <a:solidFill>
                  <a:srgbClr val="26303C"/>
                </a:solidFill>
                <a:latin typeface="Aptos"/>
              </a:rPr>
              <a:t>Review the polygon shape.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98664" y="2753035"/>
            <a:ext cx="19659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311896" y="2341555"/>
            <a:ext cx="530352" cy="530352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11896" y="2487859"/>
            <a:ext cx="530352" cy="18288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35824" y="3073075"/>
            <a:ext cx="169164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ctr"/>
            <a:r>
              <a:rPr sz="1500" b="1">
                <a:solidFill>
                  <a:srgbClr val="17365D"/>
                </a:solidFill>
                <a:latin typeface="Aptos"/>
              </a:rPr>
              <a:t>Validate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5824" y="3621715"/>
            <a:ext cx="1691640" cy="73152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ctr"/>
            <a:r>
              <a:rPr sz="1200" b="0">
                <a:solidFill>
                  <a:srgbClr val="26303C"/>
                </a:solidFill>
                <a:latin typeface="Aptos"/>
              </a:rPr>
              <a:t>Check complete numeric pairs.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02952" y="2753035"/>
            <a:ext cx="19659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616184" y="2341555"/>
            <a:ext cx="530352" cy="530352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616184" y="2487859"/>
            <a:ext cx="530352" cy="18288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40112" y="3073075"/>
            <a:ext cx="169164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ctr"/>
            <a:r>
              <a:rPr sz="1500" b="1">
                <a:solidFill>
                  <a:srgbClr val="17365D"/>
                </a:solidFill>
                <a:latin typeface="Aptos"/>
              </a:rPr>
              <a:t>Save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40112" y="3621715"/>
            <a:ext cx="1691640" cy="73152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ctr"/>
            <a:r>
              <a:rPr sz="1200" b="0">
                <a:solidFill>
                  <a:srgbClr val="26303C"/>
                </a:solidFill>
                <a:latin typeface="Aptos"/>
              </a:rPr>
              <a:t>Persist validated JSON through Apex.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010BFE7-DA79-5B6A-02A4-871D88300E78}"/>
              </a:ext>
            </a:extLst>
          </p:cNvPr>
          <p:cNvGrpSpPr/>
          <p:nvPr/>
        </p:nvGrpSpPr>
        <p:grpSpPr>
          <a:xfrm>
            <a:off x="1" y="-39163"/>
            <a:ext cx="12192000" cy="6897164"/>
            <a:chOff x="0" y="-39164"/>
            <a:chExt cx="14630401" cy="8308115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A1584C7-69F8-6335-0B33-DB884730CD1A}"/>
                </a:ext>
              </a:extLst>
            </p:cNvPr>
            <p:cNvSpPr/>
            <p:nvPr/>
          </p:nvSpPr>
          <p:spPr>
            <a:xfrm>
              <a:off x="0" y="0"/>
              <a:ext cx="14630400" cy="108548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FD1893E-FF1A-3791-9A44-5DA95D1B8994}"/>
                </a:ext>
              </a:extLst>
            </p:cNvPr>
            <p:cNvSpPr/>
            <p:nvPr/>
          </p:nvSpPr>
          <p:spPr>
            <a:xfrm>
              <a:off x="1" y="7183469"/>
              <a:ext cx="14630400" cy="108548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/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B03069B1-D465-53A7-3ABA-2755D3BFD94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6076"/>
            <a:stretch/>
          </p:blipFill>
          <p:spPr>
            <a:xfrm>
              <a:off x="10810937" y="79572"/>
              <a:ext cx="3618886" cy="944372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9A0E094E-AA12-B792-9DC1-EE0B2C375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5597" y="-39164"/>
              <a:ext cx="1194938" cy="1124647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DD22BC5-A049-C5A5-130F-F8521386F997}"/>
                </a:ext>
              </a:extLst>
            </p:cNvPr>
            <p:cNvSpPr txBox="1"/>
            <p:nvPr/>
          </p:nvSpPr>
          <p:spPr>
            <a:xfrm flipH="1">
              <a:off x="5574890" y="7444775"/>
              <a:ext cx="3480619" cy="5116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160" dirty="0">
                  <a:solidFill>
                    <a:srgbClr val="D8A21E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www.gyanvihar.org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921872"/>
            <a:ext cx="10972800" cy="50292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2500" b="1">
                <a:solidFill>
                  <a:srgbClr val="17365D"/>
                </a:solidFill>
                <a:latin typeface="Aptos"/>
              </a:rPr>
              <a:t>Construction Layout Workspace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543664"/>
            <a:ext cx="1005840" cy="50292"/>
          </a:xfrm>
          <a:prstGeom prst="rect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6510528"/>
            <a:ext cx="6400800" cy="18288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800" b="0">
                <a:solidFill>
                  <a:srgbClr val="64707E"/>
                </a:solidFill>
                <a:latin typeface="Aptos"/>
              </a:rPr>
              <a:t>NIRMAAN 2.0  |  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r"/>
            <a:r>
              <a:rPr sz="900" b="0">
                <a:solidFill>
                  <a:srgbClr val="64707E"/>
                </a:solidFill>
                <a:latin typeface="Aptos"/>
              </a:rPr>
              <a:t>10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E9AAF013-A9D2-97E5-21C9-9FB445950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9468" y="1863807"/>
            <a:ext cx="8533063" cy="4319342"/>
          </a:xfrm>
          <a:prstGeom prst="rect">
            <a:avLst/>
          </a:prstGeom>
        </p:spPr>
      </p:pic>
      <p:grpSp>
        <p:nvGrpSpPr>
          <p:cNvPr id="63" name="Group 62">
            <a:extLst>
              <a:ext uri="{FF2B5EF4-FFF2-40B4-BE49-F238E27FC236}">
                <a16:creationId xmlns:a16="http://schemas.microsoft.com/office/drawing/2014/main" id="{8B9CE07C-536C-536C-A1D6-58EC5E45FE1B}"/>
              </a:ext>
            </a:extLst>
          </p:cNvPr>
          <p:cNvGrpSpPr/>
          <p:nvPr/>
        </p:nvGrpSpPr>
        <p:grpSpPr>
          <a:xfrm>
            <a:off x="1" y="-39163"/>
            <a:ext cx="12192000" cy="6897164"/>
            <a:chOff x="0" y="-39164"/>
            <a:chExt cx="14630401" cy="8308115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E557BA6B-B9A2-C5DE-7A09-BF25CAAF76B3}"/>
                </a:ext>
              </a:extLst>
            </p:cNvPr>
            <p:cNvSpPr/>
            <p:nvPr/>
          </p:nvSpPr>
          <p:spPr>
            <a:xfrm>
              <a:off x="0" y="0"/>
              <a:ext cx="14630400" cy="108548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FA21F58F-7AC8-C32B-8445-7445BF60542D}"/>
                </a:ext>
              </a:extLst>
            </p:cNvPr>
            <p:cNvSpPr/>
            <p:nvPr/>
          </p:nvSpPr>
          <p:spPr>
            <a:xfrm>
              <a:off x="1" y="7183469"/>
              <a:ext cx="14630400" cy="108548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/>
            </a:p>
          </p:txBody>
        </p:sp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E48A1BB2-A121-74E6-5E92-B91B11A413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6076"/>
            <a:stretch/>
          </p:blipFill>
          <p:spPr>
            <a:xfrm>
              <a:off x="10810937" y="79572"/>
              <a:ext cx="3618886" cy="944372"/>
            </a:xfrm>
            <a:prstGeom prst="rect">
              <a:avLst/>
            </a:prstGeom>
          </p:spPr>
        </p:pic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42853854-4848-B013-5CF6-978DEDCE73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5597" y="-39164"/>
              <a:ext cx="1194938" cy="1124647"/>
            </a:xfrm>
            <a:prstGeom prst="rect">
              <a:avLst/>
            </a:prstGeom>
          </p:spPr>
        </p:pic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E32C1A6A-9300-024D-E945-134F6D0A37DF}"/>
                </a:ext>
              </a:extLst>
            </p:cNvPr>
            <p:cNvSpPr txBox="1"/>
            <p:nvPr/>
          </p:nvSpPr>
          <p:spPr>
            <a:xfrm flipH="1">
              <a:off x="5574890" y="7444775"/>
              <a:ext cx="3480619" cy="5116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160" dirty="0">
                  <a:solidFill>
                    <a:srgbClr val="D8A21E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www.gyanvihar.org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1207010"/>
            <a:ext cx="10972800" cy="50292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2500" b="1" dirty="0">
                <a:solidFill>
                  <a:srgbClr val="17365D"/>
                </a:solidFill>
                <a:latin typeface="Aptos"/>
              </a:rPr>
              <a:t>Filters and User Interaction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828802"/>
            <a:ext cx="1005840" cy="50292"/>
          </a:xfrm>
          <a:prstGeom prst="rect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6510528"/>
            <a:ext cx="6400800" cy="18288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800" b="0">
                <a:solidFill>
                  <a:srgbClr val="64707E"/>
                </a:solidFill>
                <a:latin typeface="Aptos"/>
              </a:rPr>
              <a:t>NIRMAAN 2.0  |  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r"/>
            <a:r>
              <a:rPr sz="900" b="0">
                <a:solidFill>
                  <a:srgbClr val="64707E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2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2432306"/>
            <a:ext cx="54864" cy="126187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432306"/>
            <a:ext cx="301752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500" b="1">
                <a:solidFill>
                  <a:srgbClr val="17365D"/>
                </a:solidFill>
                <a:latin typeface="Aptos"/>
              </a:rPr>
              <a:t>Package filter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16354"/>
            <a:ext cx="3017520" cy="932688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200" b="0">
                <a:solidFill>
                  <a:srgbClr val="26303C"/>
                </a:solidFill>
                <a:latin typeface="Aptos"/>
              </a:rPr>
              <a:t>Scopes queries and summaries to the selected package.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286002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2432306"/>
            <a:ext cx="54864" cy="1261872"/>
          </a:xfrm>
          <a:prstGeom prst="rect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2432306"/>
            <a:ext cx="301752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500" b="1">
                <a:solidFill>
                  <a:srgbClr val="17365D"/>
                </a:solidFill>
                <a:latin typeface="Aptos"/>
              </a:rPr>
              <a:t>Structure 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816354"/>
            <a:ext cx="3017520" cy="932688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200" b="0">
                <a:solidFill>
                  <a:srgbClr val="26303C"/>
                </a:solidFill>
                <a:latin typeface="Aptos"/>
              </a:rPr>
              <a:t>Toggle Piles, Rafts, and Pedestals independently.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2286002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55279" y="2432306"/>
            <a:ext cx="54864" cy="1261872"/>
          </a:xfrm>
          <a:prstGeom prst="rect">
            <a:avLst/>
          </a:prstGeom>
          <a:solidFill>
            <a:srgbClr val="2B8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38159" y="2432306"/>
            <a:ext cx="301752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500" b="1">
                <a:solidFill>
                  <a:srgbClr val="17365D"/>
                </a:solidFill>
                <a:latin typeface="Aptos"/>
              </a:rPr>
              <a:t>Status filter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59" y="2816354"/>
            <a:ext cx="3017520" cy="932688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200" b="0">
                <a:solidFill>
                  <a:srgbClr val="26303C"/>
                </a:solidFill>
                <a:latin typeface="Aptos"/>
              </a:rPr>
              <a:t>Use actual status fields and values where available.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389122"/>
            <a:ext cx="9875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Fit to View and zoom controls help inspect the plan.</a:t>
            </a:r>
          </a:p>
          <a:p>
            <a:pPr>
              <a:spcAft>
                <a:spcPts val="12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Selecting a marker highlights it and shows record details.</a:t>
            </a:r>
          </a:p>
          <a:p>
            <a:pPr>
              <a:spcAft>
                <a:spcPts val="12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Filters update visualization and summary cards together.</a:t>
            </a:r>
          </a:p>
          <a:p>
            <a:pPr>
              <a:spcAft>
                <a:spcPts val="12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Empty, loading, and error states should be distinct.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3B91187-5963-3CD9-BBD4-6763E54EB351}"/>
              </a:ext>
            </a:extLst>
          </p:cNvPr>
          <p:cNvGrpSpPr/>
          <p:nvPr/>
        </p:nvGrpSpPr>
        <p:grpSpPr>
          <a:xfrm>
            <a:off x="1" y="-39163"/>
            <a:ext cx="12192000" cy="6897164"/>
            <a:chOff x="0" y="-39164"/>
            <a:chExt cx="14630401" cy="8308115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79FA149-1581-B01E-5E1D-E87419944586}"/>
                </a:ext>
              </a:extLst>
            </p:cNvPr>
            <p:cNvSpPr/>
            <p:nvPr/>
          </p:nvSpPr>
          <p:spPr>
            <a:xfrm>
              <a:off x="0" y="0"/>
              <a:ext cx="14630400" cy="108548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593E5D1-973C-6026-653A-F66D9D2D6B7E}"/>
                </a:ext>
              </a:extLst>
            </p:cNvPr>
            <p:cNvSpPr/>
            <p:nvPr/>
          </p:nvSpPr>
          <p:spPr>
            <a:xfrm>
              <a:off x="1" y="7183469"/>
              <a:ext cx="14630400" cy="108548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FD8298F6-5952-E981-DB93-2BADB7EF04F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6076"/>
            <a:stretch/>
          </p:blipFill>
          <p:spPr>
            <a:xfrm>
              <a:off x="10810937" y="79572"/>
              <a:ext cx="3618886" cy="944372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51AA9E60-F40A-D892-914C-6B1353643D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5597" y="-39164"/>
              <a:ext cx="1194938" cy="1124647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1876E45-7E9B-3965-DC58-F6950D17895C}"/>
                </a:ext>
              </a:extLst>
            </p:cNvPr>
            <p:cNvSpPr txBox="1"/>
            <p:nvPr/>
          </p:nvSpPr>
          <p:spPr>
            <a:xfrm flipH="1">
              <a:off x="5574890" y="7444775"/>
              <a:ext cx="3480619" cy="5116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160" dirty="0">
                  <a:solidFill>
                    <a:srgbClr val="D8A21E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www.gyanvihar.org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892369"/>
            <a:ext cx="10972800" cy="50292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2500" b="1">
                <a:solidFill>
                  <a:srgbClr val="17365D"/>
                </a:solidFill>
                <a:latin typeface="Aptos"/>
              </a:rPr>
              <a:t>Data Quality and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514161"/>
            <a:ext cx="1005840" cy="50292"/>
          </a:xfrm>
          <a:prstGeom prst="rect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7110289"/>
            <a:ext cx="6400800" cy="18288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800" b="0">
                <a:solidFill>
                  <a:srgbClr val="64707E"/>
                </a:solidFill>
                <a:latin typeface="Aptos"/>
              </a:rPr>
              <a:t>NIRMAAN 2.0  |  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7073713"/>
            <a:ext cx="411480" cy="22860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r"/>
            <a:r>
              <a:rPr sz="900" b="0">
                <a:solidFill>
                  <a:srgbClr val="64707E"/>
                </a:solidFill>
                <a:latin typeface="Aptos"/>
              </a:rPr>
              <a:t>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8265726"/>
              </p:ext>
            </p:extLst>
          </p:nvPr>
        </p:nvGraphicFramePr>
        <p:xfrm>
          <a:off x="777240" y="1925641"/>
          <a:ext cx="106527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9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Condition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Validation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Handling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303C"/>
                          </a:solidFill>
                          <a:latin typeface="Aptos"/>
                        </a:rPr>
                        <a:t>Missing X/Y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303C"/>
                          </a:solidFill>
                          <a:latin typeface="Aptos"/>
                        </a:rPr>
                        <a:t>Both values required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303C"/>
                          </a:solidFill>
                          <a:latin typeface="Aptos"/>
                        </a:rPr>
                        <a:t>Count as missing; do not plot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303C"/>
                          </a:solidFill>
                          <a:latin typeface="Aptos"/>
                        </a:rPr>
                        <a:t>Invalid raft JSON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303C"/>
                          </a:solidFill>
                          <a:latin typeface="Aptos"/>
                        </a:rPr>
                        <a:t>Parse expected ordered array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303C"/>
                          </a:solidFill>
                          <a:latin typeface="Aptos"/>
                        </a:rPr>
                        <a:t>Skip affected raft; report issue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303C"/>
                          </a:solidFill>
                          <a:latin typeface="Aptos"/>
                        </a:rPr>
                        <a:t>Fewer than 3 vertices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303C"/>
                          </a:solidFill>
                          <a:latin typeface="Aptos"/>
                        </a:rPr>
                        <a:t>Polygon requires at least 3 points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303C"/>
                          </a:solidFill>
                          <a:latin typeface="Aptos"/>
                        </a:rPr>
                        <a:t>Do not render as valid geometry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303C"/>
                          </a:solidFill>
                          <a:latin typeface="Aptos"/>
                        </a:rPr>
                        <a:t>Corner count mismatch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303C"/>
                          </a:solidFill>
                          <a:latin typeface="Aptos"/>
                        </a:rPr>
                        <a:t>Declared count equals point count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303C"/>
                          </a:solidFill>
                          <a:latin typeface="Aptos"/>
                        </a:rPr>
                        <a:t>Flag for correction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303C"/>
                          </a:solidFill>
                          <a:latin typeface="Aptos"/>
                        </a:rPr>
                        <a:t>No matching records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303C"/>
                          </a:solidFill>
                          <a:latin typeface="Aptos"/>
                        </a:rPr>
                        <a:t>No records for selected package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303C"/>
                          </a:solidFill>
                          <a:latin typeface="Aptos"/>
                        </a:rPr>
                        <a:t>Show empty 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6543361"/>
            <a:ext cx="10058400" cy="27432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ctr"/>
            <a:r>
              <a:rPr sz="1400" b="0">
                <a:solidFill>
                  <a:srgbClr val="64707E"/>
                </a:solidFill>
                <a:latin typeface="Aptos"/>
              </a:rPr>
              <a:t>One invalid record should not prevent the rest of the valid layout from rendering.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900B55E-3818-D0CC-C925-6C35FD5D443E}"/>
              </a:ext>
            </a:extLst>
          </p:cNvPr>
          <p:cNvGrpSpPr/>
          <p:nvPr/>
        </p:nvGrpSpPr>
        <p:grpSpPr>
          <a:xfrm>
            <a:off x="1" y="-39163"/>
            <a:ext cx="12192000" cy="6897164"/>
            <a:chOff x="0" y="-39164"/>
            <a:chExt cx="14630401" cy="830811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1E25AAC-FB96-F611-E4BD-5C1063CF9F54}"/>
                </a:ext>
              </a:extLst>
            </p:cNvPr>
            <p:cNvSpPr/>
            <p:nvPr/>
          </p:nvSpPr>
          <p:spPr>
            <a:xfrm>
              <a:off x="0" y="0"/>
              <a:ext cx="14630400" cy="108548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339B99E-E273-441A-96E2-FD922EA273EF}"/>
                </a:ext>
              </a:extLst>
            </p:cNvPr>
            <p:cNvSpPr/>
            <p:nvPr/>
          </p:nvSpPr>
          <p:spPr>
            <a:xfrm>
              <a:off x="1" y="7183469"/>
              <a:ext cx="14630400" cy="108548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/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6420CB0-3EC0-3980-D4DB-A961EA9A1DE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6076"/>
            <a:stretch/>
          </p:blipFill>
          <p:spPr>
            <a:xfrm>
              <a:off x="10810937" y="79572"/>
              <a:ext cx="3618886" cy="944372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6611458C-F53D-35EE-A9AA-F9A0D38B04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5597" y="-39164"/>
              <a:ext cx="1194938" cy="1124647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321633C-543B-1B4E-CD98-C56FB9F23FDE}"/>
                </a:ext>
              </a:extLst>
            </p:cNvPr>
            <p:cNvSpPr txBox="1"/>
            <p:nvPr/>
          </p:nvSpPr>
          <p:spPr>
            <a:xfrm flipH="1">
              <a:off x="5574890" y="7444775"/>
              <a:ext cx="3480619" cy="5116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160" dirty="0">
                  <a:solidFill>
                    <a:srgbClr val="D8A21E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www.gyanvihar.org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1610132"/>
            <a:ext cx="10972800" cy="50292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2500" b="1">
                <a:solidFill>
                  <a:srgbClr val="17365D"/>
                </a:solidFill>
                <a:latin typeface="Aptos"/>
              </a:rPr>
              <a:t>Security and Access Control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2231924"/>
            <a:ext cx="1005840" cy="50292"/>
          </a:xfrm>
          <a:prstGeom prst="rect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7287278"/>
            <a:ext cx="6400800" cy="18288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800" b="0">
                <a:solidFill>
                  <a:srgbClr val="64707E"/>
                </a:solidFill>
                <a:latin typeface="Aptos"/>
              </a:rPr>
              <a:t>NIRMAAN 2.0  |  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060998"/>
            <a:ext cx="411480" cy="22860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r"/>
            <a:r>
              <a:rPr sz="900" b="0">
                <a:solidFill>
                  <a:srgbClr val="64707E"/>
                </a:solidFill>
                <a:latin typeface="Apto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89124"/>
            <a:ext cx="6583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Use sharing-aware Apex and enforce object/field permissions.</a:t>
            </a:r>
          </a:p>
          <a:p>
            <a:pPr>
              <a:spcAft>
                <a:spcPts val="12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Validate package IDs and supported filter parameters.</a:t>
            </a:r>
          </a:p>
          <a:p>
            <a:pPr>
              <a:spcAft>
                <a:spcPts val="12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Query only the fields required by the interface.</a:t>
            </a:r>
          </a:p>
          <a:p>
            <a:pPr>
              <a:spcAft>
                <a:spcPts val="12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Do not rely on tab visibility or client-side checks as data security.</a:t>
            </a:r>
          </a:p>
          <a:p>
            <a:pPr>
              <a:spcAft>
                <a:spcPts val="12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Control raw raft JSON updates through the validated editor path.</a:t>
            </a:r>
          </a:p>
          <a:p>
            <a:pPr>
              <a:spcAft>
                <a:spcPts val="12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Test users with different permission sets and record access.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177374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909560" y="1920044"/>
            <a:ext cx="54864" cy="94183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92440" y="1920044"/>
            <a:ext cx="297180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500" b="1">
                <a:solidFill>
                  <a:srgbClr val="17365D"/>
                </a:solidFill>
                <a:latin typeface="Aptos"/>
              </a:rPr>
              <a:t>Least privilege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304092"/>
            <a:ext cx="2971800" cy="612648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200" b="0">
                <a:solidFill>
                  <a:srgbClr val="26303C"/>
                </a:solidFill>
                <a:latin typeface="Aptos"/>
              </a:rPr>
              <a:t>Users access only authorized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328250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909560" y="3428804"/>
            <a:ext cx="54864" cy="941832"/>
          </a:xfrm>
          <a:prstGeom prst="rect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92440" y="3428804"/>
            <a:ext cx="297180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500" b="1">
                <a:solidFill>
                  <a:srgbClr val="17365D"/>
                </a:solidFill>
                <a:latin typeface="Aptos"/>
              </a:rPr>
              <a:t>Server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3812852"/>
            <a:ext cx="2971800" cy="612648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200" b="0">
                <a:solidFill>
                  <a:srgbClr val="26303C"/>
                </a:solidFill>
                <a:latin typeface="Aptos"/>
              </a:rPr>
              <a:t>Validate inputs and saved geometry.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4791260"/>
            <a:ext cx="33375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09560" y="4937564"/>
            <a:ext cx="54864" cy="804671"/>
          </a:xfrm>
          <a:prstGeom prst="rect">
            <a:avLst/>
          </a:prstGeom>
          <a:solidFill>
            <a:srgbClr val="2B8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92440" y="4937564"/>
            <a:ext cx="297180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500" b="1">
                <a:solidFill>
                  <a:srgbClr val="17365D"/>
                </a:solidFill>
                <a:latin typeface="Aptos"/>
              </a:rPr>
              <a:t>Safe operations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5321612"/>
            <a:ext cx="2971800" cy="475487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200" b="0">
                <a:solidFill>
                  <a:srgbClr val="26303C"/>
                </a:solidFill>
                <a:latin typeface="Aptos"/>
              </a:rPr>
              <a:t>Keep secrets out of source and reports.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D72ADFC-B2B9-6167-48B0-BDABE48C8284}"/>
              </a:ext>
            </a:extLst>
          </p:cNvPr>
          <p:cNvGrpSpPr/>
          <p:nvPr/>
        </p:nvGrpSpPr>
        <p:grpSpPr>
          <a:xfrm>
            <a:off x="1" y="-39163"/>
            <a:ext cx="12192000" cy="6897164"/>
            <a:chOff x="0" y="-39164"/>
            <a:chExt cx="14630401" cy="830811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D328A71-347B-E8DF-CDE0-66CC873F2B38}"/>
                </a:ext>
              </a:extLst>
            </p:cNvPr>
            <p:cNvSpPr/>
            <p:nvPr/>
          </p:nvSpPr>
          <p:spPr>
            <a:xfrm>
              <a:off x="0" y="0"/>
              <a:ext cx="14630400" cy="108548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4BBE5A3-1DD0-48FA-913A-6A1A0831D4FB}"/>
                </a:ext>
              </a:extLst>
            </p:cNvPr>
            <p:cNvSpPr/>
            <p:nvPr/>
          </p:nvSpPr>
          <p:spPr>
            <a:xfrm>
              <a:off x="1" y="7183469"/>
              <a:ext cx="14630400" cy="108548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/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B17F58ED-8C16-F292-252E-43A6280EED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6076"/>
            <a:stretch/>
          </p:blipFill>
          <p:spPr>
            <a:xfrm>
              <a:off x="10810937" y="79572"/>
              <a:ext cx="3618886" cy="944372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62BEC1E4-EFA8-F220-AFBF-C069000340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5597" y="-39164"/>
              <a:ext cx="1194938" cy="1124647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690B48D-8206-4FD8-55DA-EE7D81876B7B}"/>
                </a:ext>
              </a:extLst>
            </p:cNvPr>
            <p:cNvSpPr txBox="1"/>
            <p:nvPr/>
          </p:nvSpPr>
          <p:spPr>
            <a:xfrm flipH="1">
              <a:off x="5574890" y="7444775"/>
              <a:ext cx="3480619" cy="5116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160" dirty="0">
                  <a:solidFill>
                    <a:srgbClr val="D8A21E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www.gyanvihar.org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862876"/>
            <a:ext cx="10972800" cy="50292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2500" b="1">
                <a:solidFill>
                  <a:srgbClr val="17365D"/>
                </a:solidFill>
                <a:latin typeface="Aptos"/>
              </a:rPr>
              <a:t>Testing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484668"/>
            <a:ext cx="1005840" cy="50292"/>
          </a:xfrm>
          <a:prstGeom prst="rect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7080796"/>
            <a:ext cx="6400800" cy="18288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800" b="0">
                <a:solidFill>
                  <a:srgbClr val="64707E"/>
                </a:solidFill>
                <a:latin typeface="Aptos"/>
              </a:rPr>
              <a:t>NIRMAAN 2.0  |  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7044220"/>
            <a:ext cx="411480" cy="22860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r"/>
            <a:r>
              <a:rPr sz="900" b="0">
                <a:solidFill>
                  <a:srgbClr val="64707E"/>
                </a:solidFill>
                <a:latin typeface="Aptos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04708"/>
            <a:ext cx="50292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951012"/>
            <a:ext cx="54864" cy="94183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951012"/>
            <a:ext cx="466344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500" b="1">
                <a:solidFill>
                  <a:srgbClr val="17365D"/>
                </a:solidFill>
                <a:latin typeface="Aptos"/>
              </a:rPr>
              <a:t>Geometry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35060"/>
            <a:ext cx="4663440" cy="612648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200" b="0">
                <a:solidFill>
                  <a:srgbClr val="26303C"/>
                </a:solidFill>
                <a:latin typeface="Aptos"/>
              </a:rPr>
              <a:t>Test 3-corner and 5-corner rafts.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804708"/>
            <a:ext cx="50292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60" y="1951012"/>
            <a:ext cx="54864" cy="941832"/>
          </a:xfrm>
          <a:prstGeom prst="rect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951012"/>
            <a:ext cx="466344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500" b="1">
                <a:solidFill>
                  <a:srgbClr val="17365D"/>
                </a:solidFill>
                <a:latin typeface="Aptos"/>
              </a:rPr>
              <a:t>Coordinates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335060"/>
            <a:ext cx="4663440" cy="612648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200" b="0">
                <a:solidFill>
                  <a:srgbClr val="26303C"/>
                </a:solidFill>
                <a:latin typeface="Aptos"/>
              </a:rPr>
              <a:t>Test negative, missing, invalid X/Y.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13468"/>
            <a:ext cx="50292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" y="3459772"/>
            <a:ext cx="54864" cy="941832"/>
          </a:xfrm>
          <a:prstGeom prst="rect">
            <a:avLst/>
          </a:prstGeom>
          <a:solidFill>
            <a:srgbClr val="2B8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3459772"/>
            <a:ext cx="466344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500" b="1">
                <a:solidFill>
                  <a:srgbClr val="17365D"/>
                </a:solidFill>
                <a:latin typeface="Aptos"/>
              </a:rPr>
              <a:t>Filters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843820"/>
            <a:ext cx="4663440" cy="612648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200" b="0">
                <a:solidFill>
                  <a:srgbClr val="26303C"/>
                </a:solidFill>
                <a:latin typeface="Aptos"/>
              </a:rPr>
              <a:t>Verify package and structure-type filters.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313468"/>
            <a:ext cx="50292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9360" y="3459772"/>
            <a:ext cx="54864" cy="941832"/>
          </a:xfrm>
          <a:prstGeom prst="rect">
            <a:avLst/>
          </a:prstGeom>
          <a:solidFill>
            <a:srgbClr val="CC8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3459772"/>
            <a:ext cx="466344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500" b="1">
                <a:solidFill>
                  <a:srgbClr val="17365D"/>
                </a:solidFill>
                <a:latin typeface="Aptos"/>
              </a:rPr>
              <a:t>Isolation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843820"/>
            <a:ext cx="4663440" cy="612648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200" b="0">
                <a:solidFill>
                  <a:srgbClr val="26303C"/>
                </a:solidFill>
                <a:latin typeface="Aptos"/>
              </a:rPr>
              <a:t>Exclude records from other packages.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822228"/>
            <a:ext cx="50292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2960" y="4968532"/>
            <a:ext cx="54864" cy="94183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5840" y="4968532"/>
            <a:ext cx="466344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500" b="1">
                <a:solidFill>
                  <a:srgbClr val="17365D"/>
                </a:solidFill>
                <a:latin typeface="Aptos"/>
              </a:rPr>
              <a:t>Security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352580"/>
            <a:ext cx="4663440" cy="612648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200" b="0">
                <a:solidFill>
                  <a:srgbClr val="26303C"/>
                </a:solidFill>
                <a:latin typeface="Aptos"/>
              </a:rPr>
              <a:t>Verify restricted user access.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822228"/>
            <a:ext cx="50292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09360" y="4968532"/>
            <a:ext cx="54864" cy="941832"/>
          </a:xfrm>
          <a:prstGeom prst="rect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0" y="4968532"/>
            <a:ext cx="466344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500" b="1">
                <a:solidFill>
                  <a:srgbClr val="17365D"/>
                </a:solidFill>
                <a:latin typeface="Aptos"/>
              </a:rPr>
              <a:t>Navigation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352580"/>
            <a:ext cx="4663440" cy="612648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200" b="0">
                <a:solidFill>
                  <a:srgbClr val="26303C"/>
                </a:solidFill>
                <a:latin typeface="Aptos"/>
              </a:rPr>
              <a:t>Verify tab opens in NIRMAAN_2.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6559588"/>
            <a:ext cx="10241280" cy="27432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ctr"/>
            <a:r>
              <a:rPr sz="1300" b="0">
                <a:solidFill>
                  <a:srgbClr val="64707E"/>
                </a:solidFill>
                <a:latin typeface="Aptos"/>
              </a:rPr>
              <a:t>Record actual pass/fail results only after running tests in the target org.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F572F93-2702-9488-DCFF-6AE239D804A7}"/>
              </a:ext>
            </a:extLst>
          </p:cNvPr>
          <p:cNvGrpSpPr/>
          <p:nvPr/>
        </p:nvGrpSpPr>
        <p:grpSpPr>
          <a:xfrm>
            <a:off x="1" y="-39163"/>
            <a:ext cx="12192000" cy="6897164"/>
            <a:chOff x="0" y="-39164"/>
            <a:chExt cx="14630401" cy="8308115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0806D973-2AE3-D391-3D4D-8D3674073BC2}"/>
                </a:ext>
              </a:extLst>
            </p:cNvPr>
            <p:cNvSpPr/>
            <p:nvPr/>
          </p:nvSpPr>
          <p:spPr>
            <a:xfrm>
              <a:off x="0" y="0"/>
              <a:ext cx="14630400" cy="108548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CF60E10A-F50C-9053-BC03-F7C8D94414A5}"/>
                </a:ext>
              </a:extLst>
            </p:cNvPr>
            <p:cNvSpPr/>
            <p:nvPr/>
          </p:nvSpPr>
          <p:spPr>
            <a:xfrm>
              <a:off x="1" y="7183469"/>
              <a:ext cx="14630400" cy="108548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/>
            </a:p>
          </p:txBody>
        </p: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68233603-CA2C-4AA0-2CC0-60D11388880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6076"/>
            <a:stretch/>
          </p:blipFill>
          <p:spPr>
            <a:xfrm>
              <a:off x="10810937" y="79572"/>
              <a:ext cx="3618886" cy="944372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C8CC8E8E-618D-6796-4616-7F3D4ADD5E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5597" y="-39164"/>
              <a:ext cx="1194938" cy="1124647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A47BEF9-D46F-5CA8-3CDD-2A28C4D15A87}"/>
                </a:ext>
              </a:extLst>
            </p:cNvPr>
            <p:cNvSpPr txBox="1"/>
            <p:nvPr/>
          </p:nvSpPr>
          <p:spPr>
            <a:xfrm flipH="1">
              <a:off x="5574890" y="7444775"/>
              <a:ext cx="3480619" cy="5116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160" dirty="0">
                  <a:solidFill>
                    <a:srgbClr val="D8A21E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www.gyanvihar.org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872708"/>
            <a:ext cx="10972800" cy="50292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2500" b="1">
                <a:solidFill>
                  <a:srgbClr val="17365D"/>
                </a:solidFill>
                <a:latin typeface="Aptos"/>
              </a:rPr>
              <a:t>Risks and Mitigation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494500"/>
            <a:ext cx="1005840" cy="50292"/>
          </a:xfrm>
          <a:prstGeom prst="rect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7090628"/>
            <a:ext cx="6400800" cy="18288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800" b="0">
                <a:solidFill>
                  <a:srgbClr val="64707E"/>
                </a:solidFill>
                <a:latin typeface="Aptos"/>
              </a:rPr>
              <a:t>NIRMAAN 2.0  |  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7054052"/>
            <a:ext cx="411480" cy="22860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r"/>
            <a:r>
              <a:rPr sz="900" b="0">
                <a:solidFill>
                  <a:srgbClr val="64707E"/>
                </a:solidFill>
                <a:latin typeface="Aptos"/>
              </a:rPr>
              <a:t>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5811900"/>
              </p:ext>
            </p:extLst>
          </p:nvPr>
        </p:nvGraphicFramePr>
        <p:xfrm>
          <a:off x="777240" y="1905980"/>
          <a:ext cx="1065276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17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43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Risk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Impact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Mitigation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303C"/>
                          </a:solidFill>
                          <a:latin typeface="Aptos"/>
                        </a:rPr>
                        <a:t>Inconsistent coordinate origin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303C"/>
                          </a:solidFill>
                          <a:latin typeface="Aptos"/>
                        </a:rPr>
                        <a:t>Wrong relative positions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303C"/>
                          </a:solidFill>
                          <a:latin typeface="Aptos"/>
                        </a:rPr>
                        <a:t>Confirm units, origin and orientation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303C"/>
                          </a:solidFill>
                          <a:latin typeface="Aptos"/>
                        </a:rPr>
                        <a:t>Random sample records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303C"/>
                          </a:solidFill>
                          <a:latin typeface="Aptos"/>
                        </a:rPr>
                        <a:t>Could be mistaken for real site data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303C"/>
                          </a:solidFill>
                          <a:latin typeface="Aptos"/>
                        </a:rPr>
                        <a:t>Label samples; replace before use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303C"/>
                          </a:solidFill>
                          <a:latin typeface="Aptos"/>
                        </a:rPr>
                        <a:t>Malformed geometry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303C"/>
                          </a:solidFill>
                          <a:latin typeface="Aptos"/>
                        </a:rPr>
                        <a:t>Raft cannot be rendered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303C"/>
                          </a:solidFill>
                          <a:latin typeface="Aptos"/>
                        </a:rPr>
                        <a:t>Validate on save; isolate invalid records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303C"/>
                          </a:solidFill>
                          <a:latin typeface="Aptos"/>
                        </a:rPr>
                        <a:t>Large record volume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303C"/>
                          </a:solidFill>
                          <a:latin typeface="Aptos"/>
                        </a:rPr>
                        <a:t>Slow loading/rendering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303C"/>
                          </a:solidFill>
                          <a:latin typeface="Aptos"/>
                        </a:rPr>
                        <a:t>Scope by package and measure performance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303C"/>
                          </a:solidFill>
                          <a:latin typeface="Aptos"/>
                        </a:rPr>
                        <a:t>Permissions/configuration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303C"/>
                          </a:solidFill>
                          <a:latin typeface="Aptos"/>
                        </a:rPr>
                        <a:t>Missing data or unavailable tab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303C"/>
                          </a:solidFill>
                          <a:latin typeface="Aptos"/>
                        </a:rPr>
                        <a:t>Verify field access and app navigation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5A7D9F65-0AF3-EE73-EB7E-D44485879CE4}"/>
              </a:ext>
            </a:extLst>
          </p:cNvPr>
          <p:cNvGrpSpPr/>
          <p:nvPr/>
        </p:nvGrpSpPr>
        <p:grpSpPr>
          <a:xfrm>
            <a:off x="1" y="-39163"/>
            <a:ext cx="12192000" cy="6897164"/>
            <a:chOff x="0" y="-39164"/>
            <a:chExt cx="14630401" cy="830811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1621E1-22FA-1D40-641A-5F7CF4BE4FDB}"/>
                </a:ext>
              </a:extLst>
            </p:cNvPr>
            <p:cNvSpPr/>
            <p:nvPr/>
          </p:nvSpPr>
          <p:spPr>
            <a:xfrm>
              <a:off x="0" y="0"/>
              <a:ext cx="14630400" cy="108548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AFB6EA1-2F11-6EF2-31E7-C64EE48D3714}"/>
                </a:ext>
              </a:extLst>
            </p:cNvPr>
            <p:cNvSpPr/>
            <p:nvPr/>
          </p:nvSpPr>
          <p:spPr>
            <a:xfrm>
              <a:off x="1" y="7183469"/>
              <a:ext cx="14630400" cy="108548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D7847C1-ED5A-331A-C38B-730129F49E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6076"/>
            <a:stretch/>
          </p:blipFill>
          <p:spPr>
            <a:xfrm>
              <a:off x="10810937" y="79572"/>
              <a:ext cx="3618886" cy="944372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1081896-4F91-9CF3-4C4E-A03D6301E1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5597" y="-39164"/>
              <a:ext cx="1194938" cy="1124647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C7D0986-8DFD-350A-1BBC-036A84D1C7DC}"/>
                </a:ext>
              </a:extLst>
            </p:cNvPr>
            <p:cNvSpPr txBox="1"/>
            <p:nvPr/>
          </p:nvSpPr>
          <p:spPr>
            <a:xfrm flipH="1">
              <a:off x="5574890" y="7444775"/>
              <a:ext cx="3480619" cy="5116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160" dirty="0">
                  <a:solidFill>
                    <a:srgbClr val="D8A21E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www.gyanvihar.org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1020194"/>
            <a:ext cx="10972800" cy="50292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2500" b="1">
                <a:solidFill>
                  <a:srgbClr val="17365D"/>
                </a:solidFill>
                <a:latin typeface="Aptos"/>
              </a:rPr>
              <a:t>Implementation Status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641986"/>
            <a:ext cx="1005840" cy="50292"/>
          </a:xfrm>
          <a:prstGeom prst="rect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6510528"/>
            <a:ext cx="6400800" cy="18288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800" b="0">
                <a:solidFill>
                  <a:srgbClr val="64707E"/>
                </a:solidFill>
                <a:latin typeface="Aptos"/>
              </a:rPr>
              <a:t>NIRMAAN 2.0  |  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r"/>
            <a:r>
              <a:rPr sz="900" b="0">
                <a:solidFill>
                  <a:srgbClr val="64707E"/>
                </a:solidFill>
                <a:latin typeface="Aptos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4699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993294"/>
            <a:ext cx="54864" cy="1124712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993294"/>
            <a:ext cx="301752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500" b="1">
                <a:solidFill>
                  <a:srgbClr val="17365D"/>
                </a:solidFill>
                <a:latin typeface="Aptos"/>
              </a:rPr>
              <a:t>Data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77341"/>
            <a:ext cx="3017520" cy="795528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200" b="0">
                <a:solidFill>
                  <a:srgbClr val="26303C"/>
                </a:solidFill>
                <a:latin typeface="Aptos"/>
              </a:rPr>
              <a:t>Existing Salesforce objects and package relationships are the foundation.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4699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993294"/>
            <a:ext cx="54864" cy="1124712"/>
          </a:xfrm>
          <a:prstGeom prst="rect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993294"/>
            <a:ext cx="301752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500" b="1">
                <a:solidFill>
                  <a:srgbClr val="17365D"/>
                </a:solidFill>
                <a:latin typeface="Aptos"/>
              </a:rPr>
              <a:t>Coordinate editor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77341"/>
            <a:ext cx="3017520" cy="795528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200" b="0">
                <a:solidFill>
                  <a:srgbClr val="26303C"/>
                </a:solidFill>
                <a:latin typeface="Aptos"/>
              </a:rPr>
              <a:t>UI refined; verify save behavior with representative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84699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55279" y="1993294"/>
            <a:ext cx="54864" cy="1124712"/>
          </a:xfrm>
          <a:prstGeom prst="rect">
            <a:avLst/>
          </a:prstGeom>
          <a:solidFill>
            <a:srgbClr val="CC8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38159" y="1993294"/>
            <a:ext cx="301752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500" b="1">
                <a:solidFill>
                  <a:srgbClr val="17365D"/>
                </a:solidFill>
                <a:latin typeface="Aptos"/>
              </a:rPr>
              <a:t>Combined viewer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59" y="2377341"/>
            <a:ext cx="3017520" cy="795528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200" b="0">
                <a:solidFill>
                  <a:srgbClr val="26303C"/>
                </a:solidFill>
                <a:latin typeface="Aptos"/>
              </a:rPr>
              <a:t>Implement and verify page, filters, and live-record visualization.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357719"/>
            <a:ext cx="4572000" cy="36576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800" b="1">
                <a:solidFill>
                  <a:srgbClr val="17365D"/>
                </a:solidFill>
                <a:latin typeface="Aptos"/>
              </a:rPr>
              <a:t>Recommended next steps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860639"/>
            <a:ext cx="1005840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400" b="0">
                <a:solidFill>
                  <a:srgbClr val="26303C"/>
                </a:solidFill>
                <a:latin typeface="Aptos"/>
              </a:rPr>
              <a:t>1. Complete constructionLayoutViewer LWC and secure Apex retrieval.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272119"/>
            <a:ext cx="1005840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400" b="0">
                <a:solidFill>
                  <a:srgbClr val="26303C"/>
                </a:solidFill>
                <a:latin typeface="Aptos"/>
              </a:rPr>
              <a:t>2. Add/activate Construction Layout in NIRMAAN_2 navigation.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683599"/>
            <a:ext cx="1005840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400" b="0">
                <a:solidFill>
                  <a:srgbClr val="26303C"/>
                </a:solidFill>
                <a:latin typeface="Aptos"/>
              </a:rPr>
              <a:t>3. Test with known coordinates and sample packages.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095079"/>
            <a:ext cx="1005840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400" b="0">
                <a:solidFill>
                  <a:srgbClr val="26303C"/>
                </a:solidFill>
                <a:latin typeface="Aptos"/>
              </a:rPr>
              <a:t>4. Run Apex tests and metadata validation.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506559"/>
            <a:ext cx="1005840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400" b="0">
                <a:solidFill>
                  <a:srgbClr val="26303C"/>
                </a:solidFill>
                <a:latin typeface="Aptos"/>
              </a:rPr>
              <a:t>5. Capture screenshots and update the report with verified results.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D0FC8BD-912E-AAE7-11C2-246D3767BCCE}"/>
              </a:ext>
            </a:extLst>
          </p:cNvPr>
          <p:cNvGrpSpPr/>
          <p:nvPr/>
        </p:nvGrpSpPr>
        <p:grpSpPr>
          <a:xfrm>
            <a:off x="1" y="-39163"/>
            <a:ext cx="12192000" cy="6897164"/>
            <a:chOff x="0" y="-39164"/>
            <a:chExt cx="14630401" cy="8308115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DC589B0D-F841-390A-0C88-8D0EFDD919A4}"/>
                </a:ext>
              </a:extLst>
            </p:cNvPr>
            <p:cNvSpPr/>
            <p:nvPr/>
          </p:nvSpPr>
          <p:spPr>
            <a:xfrm>
              <a:off x="0" y="0"/>
              <a:ext cx="14630400" cy="108548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6B74388A-38D7-535E-F6F1-289F2E6439B4}"/>
                </a:ext>
              </a:extLst>
            </p:cNvPr>
            <p:cNvSpPr/>
            <p:nvPr/>
          </p:nvSpPr>
          <p:spPr>
            <a:xfrm>
              <a:off x="1" y="7183469"/>
              <a:ext cx="14630400" cy="108548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/>
            </a:p>
          </p:txBody>
        </p: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4D7AB05D-F85C-97AF-A5AA-363F5B8EFA8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6076"/>
            <a:stretch/>
          </p:blipFill>
          <p:spPr>
            <a:xfrm>
              <a:off x="10810937" y="79572"/>
              <a:ext cx="3618886" cy="944372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910B398E-B27A-CABA-B5B9-A11DD46317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5597" y="-39164"/>
              <a:ext cx="1194938" cy="1124647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9D957A2F-1FF7-A894-B788-593FCB4862FE}"/>
                </a:ext>
              </a:extLst>
            </p:cNvPr>
            <p:cNvSpPr txBox="1"/>
            <p:nvPr/>
          </p:nvSpPr>
          <p:spPr>
            <a:xfrm flipH="1">
              <a:off x="5574890" y="7444775"/>
              <a:ext cx="3480619" cy="5116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160" dirty="0">
                  <a:solidFill>
                    <a:srgbClr val="D8A21E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www.gyanvihar.org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640080"/>
            <a:ext cx="5029200" cy="64008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9875520" cy="763286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2300" b="1" dirty="0">
                <a:latin typeface="Aptos"/>
              </a:rPr>
              <a:t>NIRMAAN 2.0 brings construction records and engineering geometry into a structured Salesforce workflow.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3063240"/>
            <a:ext cx="32461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68680" y="3209544"/>
            <a:ext cx="54864" cy="1216151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3209544"/>
            <a:ext cx="288036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500" b="1">
                <a:solidFill>
                  <a:srgbClr val="17365D"/>
                </a:solidFill>
                <a:latin typeface="Aptos"/>
              </a:rPr>
              <a:t>Structured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593592"/>
            <a:ext cx="2880360" cy="886967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200" b="0" dirty="0">
                <a:solidFill>
                  <a:srgbClr val="26303C"/>
                </a:solidFill>
                <a:latin typeface="Aptos"/>
              </a:rPr>
              <a:t>Packages and foundation records.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3063240"/>
            <a:ext cx="32461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80560" y="3209544"/>
            <a:ext cx="54864" cy="1216151"/>
          </a:xfrm>
          <a:prstGeom prst="rect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3209544"/>
            <a:ext cx="288036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500" b="1">
                <a:solidFill>
                  <a:srgbClr val="17365D"/>
                </a:solidFill>
                <a:latin typeface="Aptos"/>
              </a:rPr>
              <a:t>Spatial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593592"/>
            <a:ext cx="2880360" cy="886967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200" b="0">
                <a:solidFill>
                  <a:srgbClr val="26303C"/>
                </a:solidFill>
                <a:latin typeface="Aptos"/>
              </a:rPr>
              <a:t>Shared X/Y plan-view geometry.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3063240"/>
            <a:ext cx="32461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92440" y="3209544"/>
            <a:ext cx="54864" cy="1216151"/>
          </a:xfrm>
          <a:prstGeom prst="rect">
            <a:avLst/>
          </a:prstGeom>
          <a:solidFill>
            <a:srgbClr val="2B8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75319" y="3209544"/>
            <a:ext cx="288036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500" b="1">
                <a:solidFill>
                  <a:srgbClr val="17365D"/>
                </a:solidFill>
                <a:latin typeface="Aptos"/>
              </a:rPr>
              <a:t>Actionable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3593592"/>
            <a:ext cx="2880360" cy="886967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1200" b="0">
                <a:solidFill>
                  <a:srgbClr val="26303C"/>
                </a:solidFill>
                <a:latin typeface="Aptos"/>
              </a:rPr>
              <a:t>Filters, details, and data-quality indicators.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486400"/>
            <a:ext cx="3657600" cy="50292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6172200"/>
            <a:ext cx="9601200" cy="22860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l"/>
            <a:r>
              <a:rPr sz="900" b="0">
                <a:solidFill>
                  <a:srgbClr val="CDD7E1"/>
                </a:solidFill>
                <a:latin typeface="Aptos"/>
              </a:rPr>
              <a:t>Verify implementation claims against the deployed org before formal presentation.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81A612B-A8FF-A27D-AFE2-2330E4536075}"/>
              </a:ext>
            </a:extLst>
          </p:cNvPr>
          <p:cNvGrpSpPr/>
          <p:nvPr/>
        </p:nvGrpSpPr>
        <p:grpSpPr>
          <a:xfrm>
            <a:off x="1" y="-39163"/>
            <a:ext cx="12192000" cy="6897164"/>
            <a:chOff x="0" y="-39164"/>
            <a:chExt cx="14630401" cy="8308115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C095C32-64F0-FBF7-2B9C-C4786FF9E12B}"/>
                </a:ext>
              </a:extLst>
            </p:cNvPr>
            <p:cNvSpPr/>
            <p:nvPr/>
          </p:nvSpPr>
          <p:spPr>
            <a:xfrm>
              <a:off x="0" y="0"/>
              <a:ext cx="14630400" cy="108548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18351F1-13C1-EFFF-756C-C249BAB6E484}"/>
                </a:ext>
              </a:extLst>
            </p:cNvPr>
            <p:cNvSpPr/>
            <p:nvPr/>
          </p:nvSpPr>
          <p:spPr>
            <a:xfrm>
              <a:off x="1" y="7183469"/>
              <a:ext cx="14630400" cy="108548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/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B34F9568-B25C-95A1-4105-8EE1113AB6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6076"/>
            <a:stretch/>
          </p:blipFill>
          <p:spPr>
            <a:xfrm>
              <a:off x="10810937" y="79572"/>
              <a:ext cx="3618886" cy="944372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97209AEE-9505-F90F-E134-188B8BF68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5597" y="-39164"/>
              <a:ext cx="1194938" cy="1124647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A49DCEF-0F73-617D-9CBD-D2DC2E2730DD}"/>
                </a:ext>
              </a:extLst>
            </p:cNvPr>
            <p:cNvSpPr txBox="1"/>
            <p:nvPr/>
          </p:nvSpPr>
          <p:spPr>
            <a:xfrm flipH="1">
              <a:off x="5574890" y="7444775"/>
              <a:ext cx="3480619" cy="5116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160" dirty="0">
                  <a:solidFill>
                    <a:srgbClr val="D8A21E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www.gyanvihar.org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1413</Words>
  <Application>Microsoft Office PowerPoint</Application>
  <PresentationFormat>Widescreen</PresentationFormat>
  <Paragraphs>254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</vt:lpstr>
      <vt:lpstr>Arial</vt:lpstr>
      <vt:lpstr>Calibri</vt:lpstr>
      <vt:lpstr>Calibri Light</vt:lpstr>
      <vt:lpstr>Consolas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Sameer Shrinath</cp:lastModifiedBy>
  <cp:revision>3</cp:revision>
  <dcterms:created xsi:type="dcterms:W3CDTF">2013-01-27T09:14:16Z</dcterms:created>
  <dcterms:modified xsi:type="dcterms:W3CDTF">2026-10-23T10:06:15Z</dcterms:modified>
  <cp:category/>
</cp:coreProperties>
</file>